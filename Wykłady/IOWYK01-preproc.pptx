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4"/>
  </p:sldMasterIdLst>
  <p:sldIdLst>
    <p:sldId id="256" r:id="rId5"/>
    <p:sldId id="337" r:id="rId6"/>
    <p:sldId id="287" r:id="rId7"/>
    <p:sldId id="316" r:id="rId8"/>
    <p:sldId id="329" r:id="rId9"/>
    <p:sldId id="335" r:id="rId10"/>
    <p:sldId id="301" r:id="rId11"/>
    <p:sldId id="332" r:id="rId12"/>
    <p:sldId id="333" r:id="rId13"/>
    <p:sldId id="307" r:id="rId14"/>
    <p:sldId id="315" r:id="rId15"/>
    <p:sldId id="334" r:id="rId16"/>
    <p:sldId id="331" r:id="rId17"/>
    <p:sldId id="317" r:id="rId18"/>
    <p:sldId id="318" r:id="rId19"/>
    <p:sldId id="310" r:id="rId20"/>
    <p:sldId id="313" r:id="rId21"/>
    <p:sldId id="308" r:id="rId22"/>
    <p:sldId id="309" r:id="rId23"/>
    <p:sldId id="314" r:id="rId24"/>
    <p:sldId id="311" r:id="rId25"/>
    <p:sldId id="319" r:id="rId26"/>
    <p:sldId id="320" r:id="rId27"/>
    <p:sldId id="321" r:id="rId28"/>
    <p:sldId id="322" r:id="rId29"/>
    <p:sldId id="336" r:id="rId30"/>
    <p:sldId id="328" r:id="rId31"/>
    <p:sldId id="327" r:id="rId32"/>
    <p:sldId id="323" r:id="rId33"/>
    <p:sldId id="324" r:id="rId34"/>
    <p:sldId id="312" r:id="rId35"/>
    <p:sldId id="325" r:id="rId36"/>
    <p:sldId id="326" r:id="rId37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ołaj Woźniak" userId="S::m.wozniak.430@studms.ug.edu.pl::974cb815-0691-4ebe-972a-d8a4b12b4439" providerId="AD" clId="Web-{3F4F82B0-8E2F-4F0B-C4C0-8BE407BD37E9}"/>
    <pc:docChg chg="modSld">
      <pc:chgData name="Mikołaj Woźniak" userId="S::m.wozniak.430@studms.ug.edu.pl::974cb815-0691-4ebe-972a-d8a4b12b4439" providerId="AD" clId="Web-{3F4F82B0-8E2F-4F0B-C4C0-8BE407BD37E9}" dt="2026-03-11T16:33:12.587" v="2" actId="20577"/>
      <pc:docMkLst>
        <pc:docMk/>
      </pc:docMkLst>
      <pc:sldChg chg="modSp">
        <pc:chgData name="Mikołaj Woźniak" userId="S::m.wozniak.430@studms.ug.edu.pl::974cb815-0691-4ebe-972a-d8a4b12b4439" providerId="AD" clId="Web-{3F4F82B0-8E2F-4F0B-C4C0-8BE407BD37E9}" dt="2026-03-11T16:33:12.587" v="2" actId="20577"/>
        <pc:sldMkLst>
          <pc:docMk/>
          <pc:sldMk cId="2165682856" sldId="321"/>
        </pc:sldMkLst>
        <pc:spChg chg="mod">
          <ac:chgData name="Mikołaj Woźniak" userId="S::m.wozniak.430@studms.ug.edu.pl::974cb815-0691-4ebe-972a-d8a4b12b4439" providerId="AD" clId="Web-{3F4F82B0-8E2F-4F0B-C4C0-8BE407BD37E9}" dt="2026-03-11T16:33:12.587" v="2" actId="20577"/>
          <ac:spMkLst>
            <pc:docMk/>
            <pc:sldMk cId="2165682856" sldId="321"/>
            <ac:spMk id="3" creationId="{455EAEB5-7DBF-F4AD-BFE8-4033A679C1F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1D227D51-204B-ED48-AF9A-0BE9633FE04A}"/>
              </a:ext>
            </a:extLst>
          </p:cNvPr>
          <p:cNvSpPr/>
          <p:nvPr/>
        </p:nvSpPr>
        <p:spPr>
          <a:xfrm>
            <a:off x="5224243" y="1096772"/>
            <a:ext cx="650318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57A23F45-CDAE-8A40-8DE7-92A0BBC119B7}"/>
              </a:ext>
            </a:extLst>
          </p:cNvPr>
          <p:cNvSpPr/>
          <p:nvPr/>
        </p:nvSpPr>
        <p:spPr>
          <a:xfrm>
            <a:off x="501681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8546383-CCC4-544B-B0D8-DE78DE39BB78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D1728-714F-2942-A0D1-82FF9419B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106" y="1625608"/>
            <a:ext cx="8035342" cy="2722164"/>
          </a:xfrm>
        </p:spPr>
        <p:txBody>
          <a:bodyPr anchor="b"/>
          <a:lstStyle>
            <a:lvl1pPr algn="l">
              <a:defRPr sz="8000" spc="-1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072D4-1496-3347-BBF8-5879DF263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106" y="4466845"/>
            <a:ext cx="8035342" cy="88290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FC724-B499-364B-AEB5-B6517F6AD5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7105" y="5708747"/>
            <a:ext cx="3882843" cy="365125"/>
          </a:xfrm>
        </p:spPr>
        <p:txBody>
          <a:bodyPr/>
          <a:lstStyle>
            <a:lvl1pPr>
              <a:defRPr sz="1400"/>
            </a:lvl1pPr>
          </a:lstStyle>
          <a:p>
            <a:fld id="{73C3BD54-29B9-3D42-B178-776ED395AA85}" type="datetimeFigureOut">
              <a:rPr lang="en-US" smtClean="0"/>
              <a:pPr/>
              <a:t>3/18/2026</a:t>
            </a:fld>
            <a:endParaRPr lang="en-US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3889C-A4E9-B24E-818F-46A1124C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0F50F-250E-6D45-AEBC-2573FED0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241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9F291BE0-7A7E-D04F-974F-9F4577FB2F46}"/>
              </a:ext>
            </a:extLst>
          </p:cNvPr>
          <p:cNvSpPr/>
          <p:nvPr/>
        </p:nvSpPr>
        <p:spPr>
          <a:xfrm>
            <a:off x="6163735" y="1096772"/>
            <a:ext cx="557106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BD33FF1F-6094-0B4A-A3E4-6B0D9283DB44}"/>
              </a:ext>
            </a:extLst>
          </p:cNvPr>
          <p:cNvSpPr/>
          <p:nvPr/>
        </p:nvSpPr>
        <p:spPr>
          <a:xfrm>
            <a:off x="11529484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8A6D9C-C7A5-414B-8CB7-E31470D7D28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D850E-6310-C04D-8CAC-B7FA9F33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B7FB3-5DFC-6547-9567-C0ABE874C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7D2DB-A7B1-204E-8416-E938952B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24BA1-E2D0-1E4B-9DB3-664FE2733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E64B2-36E4-5A4E-A78A-A629829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41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C97F6C6D-13AE-FD40-841C-4AB96460C390}"/>
              </a:ext>
            </a:extLst>
          </p:cNvPr>
          <p:cNvSpPr/>
          <p:nvPr/>
        </p:nvSpPr>
        <p:spPr>
          <a:xfrm>
            <a:off x="4291015" y="1096772"/>
            <a:ext cx="7436404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24E27617-2112-2342-9FF1-39F2A241CCCC}"/>
              </a:ext>
            </a:extLst>
          </p:cNvPr>
          <p:cNvSpPr/>
          <p:nvPr/>
        </p:nvSpPr>
        <p:spPr>
          <a:xfrm>
            <a:off x="408637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33CE582-7AFE-D048-B5BC-212A12A28F25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EAEF4-E84F-CF40-B27B-01E1D2AFC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1881951"/>
            <a:ext cx="7335836" cy="1987707"/>
          </a:xfrm>
        </p:spPr>
        <p:txBody>
          <a:bodyPr anchor="b"/>
          <a:lstStyle>
            <a:lvl1pPr>
              <a:defRPr sz="6000" spc="-1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7B7E1-CC48-2441-975D-F1A5412B8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49" y="3869661"/>
            <a:ext cx="7335836" cy="94846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6218-1FCF-7A4D-B138-D1B1DE91A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84204-038C-FD4B-8E1C-0A9967BF2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59AB9-E1C6-C841-B423-FD2BB13C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637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057A-C120-5E4E-BB74-223EB6D0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EB7BE-6258-C84C-8242-9865D136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5111" y="2691637"/>
            <a:ext cx="4946643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D23CD-80DB-5740-AE68-76414CA31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76903" y="2691637"/>
            <a:ext cx="4946639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E0921-9102-1440-B315-778888723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7802F-1937-2F43-8FF4-846135D6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09C72-E794-4F4F-8E09-D4883EED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EFA3E2-0F30-664C-AAE4-DE6526B5C71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C3D7AFF-BC7E-BA41-9C64-B5F9619C0EA1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671D2311-E9B8-F041-A7B8-D5696903F22A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10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CA91-F119-0244-888A-95539A84D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10" y="1204721"/>
            <a:ext cx="8266175" cy="14447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A3EAC-4422-D548-8D7F-E9944566F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11" y="2691638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40CA2-88A9-CC42-A375-8B87E47C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111" y="3515550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5F960C-714E-2E4A-8141-A88F38274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76866" y="2691162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97BC24-C907-EC4B-872D-17429A657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76866" y="3515074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E2A045-4283-3C47-B125-68CF3B19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BC25BC-2C98-574D-BCCD-E36CAB07F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5C95A-7789-E042-8471-D442D9BB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F1BA5B-EDD8-B648-8A3E-E2B3570B1EA0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7476360-629C-DE48-85B7-F4BE6CC457D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C5F6C588-FC1B-3147-AFA1-CD7D76C5AEAC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371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5401-5318-7045-8AE3-B1A99F2D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2F55F-EB76-AE49-B554-12B65B63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CB6E6E-D81E-C44A-AC54-CBE0134C1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025B9-9F46-3049-9977-0119B96D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5760068-EADA-2B4B-9819-CF981184FAE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DA7622-137E-184A-A93C-8DBB10318AE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54FB0990-6F8D-B048-8309-19B0D1A41033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475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AF81DD-2B1F-3444-8023-DD52318F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927EE3-DAA3-D948-B8FD-48417540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532D4-FFBF-6C47-A6C9-D55196D9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8D5541-7726-BA46-8BFA-BF6AA8D42BD7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97F434CF-7503-CE4F-8426-C312C6315AD0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EDBFB2F-FE34-E349-9484-C275FBE3161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185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DCFD-BEE6-AC49-BABD-D8B89C3B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DE035-8260-4443-B1D9-A9C8D5840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813" y="1508252"/>
            <a:ext cx="5606518" cy="40458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1AA53-7507-D04B-9B8E-6A4F7122E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68295"/>
            <a:ext cx="4114800" cy="31858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6E11F-3003-0745-ACAB-FAA4E676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C11A6-59AC-FE45-8A1C-9DDC0058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6F51E-1A94-034C-BBEE-C26A3AF0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0B7D330-76C0-224C-9C3C-27C4D2B0DDB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5464D55-5C51-844B-A38A-8143590FB934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FD988250-C554-DE44-B887-57D0B2AA8E37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31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86C7C-36AD-9A4E-8524-8F44E8839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015248-4C80-3348-A8A9-6C9F5D32FC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31151" y="1096772"/>
            <a:ext cx="6096270" cy="576122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B3083-CA16-C54A-B130-7BEE6DF9D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70666"/>
            <a:ext cx="4114800" cy="318346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C6EB5-D7D1-E247-B9D7-D319E5AAB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BF6CC-F5C4-9847-BADB-8B7441C8F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63FE4-B2F5-7741-B517-533F1C98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B80A771-7D8E-0F4A-93A3-B977667D338E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9320FA-0E3A-2749-9085-DF30FA26F4BD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5A3DF5D0-8A2C-A049-9132-EE1EF7D014D4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002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9F6C0E12-251D-EA44-BF81-4ABDFBB94321}"/>
              </a:ext>
            </a:extLst>
          </p:cNvPr>
          <p:cNvSpPr/>
          <p:nvPr/>
        </p:nvSpPr>
        <p:spPr>
          <a:xfrm>
            <a:off x="7087169" y="1096772"/>
            <a:ext cx="465222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C5FF4-095A-114E-87B6-73C7ADFF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E6EC9-9650-2042-8581-5B4082F94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A0800-B373-3B40-B187-30AFE44CD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A4C1C-C790-B449-8C06-78E8303F9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3E620-F86B-F447-AB06-DDAB3919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0487CB5-43E0-974C-9DDC-252A8A37107F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E9CB83EF-4143-5A45-9B3A-9E70DD50253B}"/>
              </a:ext>
            </a:extLst>
          </p:cNvPr>
          <p:cNvSpPr/>
          <p:nvPr/>
        </p:nvSpPr>
        <p:spPr>
          <a:xfrm>
            <a:off x="11415183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41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DF801-FF8E-6247-9065-D9304CD609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5667" y="1204722"/>
            <a:ext cx="1853360" cy="467664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E2615-7E4D-AB47-ACE6-236D716D7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73667" y="1204722"/>
            <a:ext cx="8274047" cy="46969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F0223-5AC9-374E-BD0C-344F67E2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EDD42-54A1-E648-8829-140EC4C57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DF8F-8DBC-8A47-8000-5BA35DF9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2CE2A98-5154-A544-BE2A-FDC0811C19A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C4EC832-8181-5643-8A62-117E43F0E498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24AF3281-BC22-374D-A461-8B3181F600AA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686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952BFD-D607-6845-9C7B-1C8D3B4EE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B52FF-3B04-8245-BF0B-89C9E2933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691638"/>
            <a:ext cx="8267296" cy="318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99BFE-CBDD-C344-A21E-44A52F11B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 smtClean="0">
                <a:latin typeface="+mn-lt"/>
              </a:defRPr>
            </a:lvl1pPr>
          </a:lstStyle>
          <a:p>
            <a:fld id="{73C3BD54-29B9-3D42-B178-776ED395AA85}" type="datetimeFigureOut">
              <a:rPr lang="en-US" smtClean="0"/>
              <a:pPr/>
              <a:t>3/18/2026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371C0-3DCE-0743-946F-C7540DD78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543179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32ADB-4517-194F-8B4B-A9D26B3C0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146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System Font Regular"/>
        <a:buChar char="–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realpython.com/python-data-cleaning-numpy-pandas/" TargetMode="External"/><Relationship Id="rId2" Type="http://schemas.openxmlformats.org/officeDocument/2006/relationships/hyperlink" Target="https://towardsdatascience.com/6-different-ways-to-compensate-for-missing-values-data-imputation-with-examples-6022d9ca0779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freecodecamp.org/news/how-to-handle-missing-data-in-a-dataset/" TargetMode="External"/><Relationship Id="rId4" Type="http://schemas.openxmlformats.org/officeDocument/2006/relationships/hyperlink" Target="https://towardsdatascience.com/data-cleaning-with-python-and-pandas-detecting-missing-values-3e9c6ebcf78b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elitedatascience.com/imbalanced-classes" TargetMode="External"/><Relationship Id="rId2" Type="http://schemas.openxmlformats.org/officeDocument/2006/relationships/hyperlink" Target="https://machinelearningmastery.com/tactics-to-combat-imbalanced-classes-in-your-machine-learning-dataset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analyticsvidhya.com/blog/2022/05/handling-imbalanced-data-with-imbalance-learn-in-python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kdnuggets.com/2023/04/best-machine-learning-model-sparse-data.html" TargetMode="Externa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shrutimechlearn/step-by-step-pca-with-iris-dataset" TargetMode="External"/><Relationship Id="rId2" Type="http://schemas.openxmlformats.org/officeDocument/2006/relationships/hyperlink" Target="https://marcioodwyer.wordpress.com/2019/01/09/principal-component-analysis-a-toy-example/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youtube.com/watch?v=FgakZw6K1QQ&amp;ab_channel=StatQuestwithJoshStarmer" TargetMode="Externa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yticsvidhya.com/blog/2022/09/training-a-cnn-from-scratch-using-data-augmentation/" TargetMode="External"/><Relationship Id="rId2" Type="http://schemas.openxmlformats.org/officeDocument/2006/relationships/hyperlink" Target="https://machinelearningmastery.com/how-to-configure-image-data-augmentation-when-training-deep-learning-neural-networks/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4F048CC-17C9-B246-BF2A-29E51AD1C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Sieć połączonych kropek">
            <a:extLst>
              <a:ext uri="{FF2B5EF4-FFF2-40B4-BE49-F238E27FC236}">
                <a16:creationId xmlns:a16="http://schemas.microsoft.com/office/drawing/2014/main" id="{905E56CD-FD4A-D853-D2B6-E1A1BD84A3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699" r="746" b="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" name="Rectangle">
            <a:extLst>
              <a:ext uri="{FF2B5EF4-FFF2-40B4-BE49-F238E27FC236}">
                <a16:creationId xmlns:a16="http://schemas.microsoft.com/office/drawing/2014/main" id="{86E439A5-A7E3-5047-A686-06C27A818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917506"/>
            <a:ext cx="10549940" cy="2374362"/>
          </a:xfrm>
          <a:prstGeom prst="rect">
            <a:avLst/>
          </a:prstGeom>
          <a:gradFill flip="none" rotWithShape="1">
            <a:gsLst>
              <a:gs pos="32000">
                <a:schemeClr val="bg1">
                  <a:alpha val="67000"/>
                </a:schemeClr>
              </a:gs>
              <a:gs pos="0">
                <a:schemeClr val="bg1">
                  <a:alpha val="55000"/>
                </a:schemeClr>
              </a:gs>
              <a:gs pos="99000">
                <a:schemeClr val="bg1">
                  <a:alpha val="5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24124FF1-775D-AC4A-81D0-73FC0F54A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250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53E2C7F-F4FF-A94D-ACAE-82823EC88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390B085-29FC-C1CA-98B2-FD160CB5D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49" y="4162776"/>
            <a:ext cx="9316409" cy="1453896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pl-PL" sz="6200" dirty="0"/>
              <a:t>Inteligencja obliczeniowa, przetwarzanie danych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A2ED398-18D1-04DD-37AA-B93E10E2A3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49" y="5650781"/>
            <a:ext cx="9316409" cy="457200"/>
          </a:xfrm>
        </p:spPr>
        <p:txBody>
          <a:bodyPr>
            <a:normAutofit/>
          </a:bodyPr>
          <a:lstStyle/>
          <a:p>
            <a:r>
              <a:rPr lang="pl-PL" dirty="0"/>
              <a:t>Grzegorz Madejski</a:t>
            </a:r>
          </a:p>
        </p:txBody>
      </p:sp>
    </p:spTree>
    <p:extLst>
      <p:ext uri="{BB962C8B-B14F-4D97-AF65-F5344CB8AC3E}">
        <p14:creationId xmlns:p14="http://schemas.microsoft.com/office/powerpoint/2010/main" val="10197847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B885A8B-A2C5-08A8-DC63-66D11427C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oup of people walking on the street&#10;&#10;Description automatically generated">
            <a:extLst>
              <a:ext uri="{FF2B5EF4-FFF2-40B4-BE49-F238E27FC236}">
                <a16:creationId xmlns:a16="http://schemas.microsoft.com/office/drawing/2014/main" id="{265F33E4-E3EB-171F-5F75-382DE59739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620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A020F9-3200-0A4F-67DF-F7FBFD46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46" y="1306285"/>
            <a:ext cx="9748007" cy="4917233"/>
          </a:xfrm>
        </p:spPr>
        <p:txBody>
          <a:bodyPr>
            <a:normAutofit/>
          </a:bodyPr>
          <a:lstStyle/>
          <a:p>
            <a:r>
              <a:rPr lang="pl-PL" sz="2800" dirty="0">
                <a:solidFill>
                  <a:srgbClr val="0070C0"/>
                </a:solidFill>
                <a:effectLst/>
              </a:rPr>
              <a:t>Sztuczna inteligencja</a:t>
            </a:r>
            <a:r>
              <a:rPr lang="pl-PL" sz="2800" dirty="0">
                <a:solidFill>
                  <a:srgbClr val="000000"/>
                </a:solidFill>
                <a:effectLst/>
              </a:rPr>
              <a:t>: zdolność maszyny do poprawnego interpretowania danych zewnętrznych, uczenia się z nich, i używania ich do osiągnięcia określonych celów dzięki adaptacji (Kaplan, </a:t>
            </a:r>
            <a:r>
              <a:rPr lang="pl-PL" sz="2800" u="sng" dirty="0" err="1">
                <a:solidFill>
                  <a:srgbClr val="000000"/>
                </a:solidFill>
                <a:effectLst/>
              </a:rPr>
              <a:t>Haenlein</a:t>
            </a:r>
            <a:r>
              <a:rPr lang="pl-PL" sz="2800" dirty="0">
                <a:solidFill>
                  <a:srgbClr val="000000"/>
                </a:solidFill>
                <a:effectLst/>
              </a:rPr>
              <a:t>); ogólniej: dziedzina informatyki zajmująca się technikami wykorzystującymi powyższą zdolność</a:t>
            </a:r>
            <a:br>
              <a:rPr lang="pl-PL" sz="2800" dirty="0">
                <a:solidFill>
                  <a:srgbClr val="000000"/>
                </a:solidFill>
                <a:effectLst/>
              </a:rPr>
            </a:br>
            <a:br>
              <a:rPr lang="pl-PL" sz="2800" dirty="0">
                <a:solidFill>
                  <a:srgbClr val="000000"/>
                </a:solidFill>
                <a:effectLst/>
              </a:rPr>
            </a:br>
            <a:r>
              <a:rPr lang="pl-PL" sz="2800" dirty="0">
                <a:solidFill>
                  <a:srgbClr val="0070C0"/>
                </a:solidFill>
                <a:effectLst/>
              </a:rPr>
              <a:t>Inteligencja obliczeniowa</a:t>
            </a:r>
            <a:r>
              <a:rPr lang="pl-PL" sz="2800" dirty="0">
                <a:solidFill>
                  <a:srgbClr val="000000"/>
                </a:solidFill>
                <a:effectLst/>
              </a:rPr>
              <a:t>: </a:t>
            </a:r>
            <a:r>
              <a:rPr lang="pl-PL" sz="2800" u="sng" dirty="0">
                <a:solidFill>
                  <a:srgbClr val="000000"/>
                </a:solidFill>
                <a:effectLst/>
              </a:rPr>
              <a:t>poddziedzina</a:t>
            </a:r>
            <a:r>
              <a:rPr lang="pl-PL" sz="2800" dirty="0">
                <a:solidFill>
                  <a:srgbClr val="000000"/>
                </a:solidFill>
                <a:effectLst/>
              </a:rPr>
              <a:t> sztucznej inteligencji skupiająca się na </a:t>
            </a:r>
            <a:r>
              <a:rPr lang="pl-PL" sz="2800" u="sng" dirty="0" err="1">
                <a:solidFill>
                  <a:srgbClr val="000000"/>
                </a:solidFill>
                <a:effectLst/>
              </a:rPr>
              <a:t>adapcyjnych</a:t>
            </a:r>
            <a:r>
              <a:rPr lang="pl-PL" sz="2800" dirty="0">
                <a:solidFill>
                  <a:srgbClr val="000000"/>
                </a:solidFill>
                <a:effectLst/>
              </a:rPr>
              <a:t> algorytmach, które umożliwiają lub usprawniają inteligentne zachowanie w złożonym lub zmieniającym się środowisku (</a:t>
            </a:r>
            <a:r>
              <a:rPr lang="pl-PL" sz="2800" u="sng" dirty="0" err="1">
                <a:solidFill>
                  <a:srgbClr val="000000"/>
                </a:solidFill>
                <a:effectLst/>
              </a:rPr>
              <a:t>Engelbrecht</a:t>
            </a:r>
            <a:r>
              <a:rPr lang="pl-PL" sz="2800" dirty="0">
                <a:solidFill>
                  <a:srgbClr val="000000"/>
                </a:solidFill>
                <a:effectLst/>
              </a:rPr>
              <a:t>)</a:t>
            </a:r>
            <a:endParaRPr lang="pl-PL" sz="2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ytuł 1">
            <a:extLst>
              <a:ext uri="{FF2B5EF4-FFF2-40B4-BE49-F238E27FC236}">
                <a16:creationId xmlns:a16="http://schemas.microsoft.com/office/drawing/2014/main" id="{FFB939D6-AC22-5DB2-9E92-FD1E971B5AE6}"/>
              </a:ext>
            </a:extLst>
          </p:cNvPr>
          <p:cNvSpPr txBox="1">
            <a:spLocks/>
          </p:cNvSpPr>
          <p:nvPr/>
        </p:nvSpPr>
        <p:spPr>
          <a:xfrm>
            <a:off x="289845" y="182167"/>
            <a:ext cx="11110793" cy="7909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Co to za przedmiot? Skąd nazwa?</a:t>
            </a:r>
          </a:p>
        </p:txBody>
      </p:sp>
    </p:spTree>
    <p:extLst>
      <p:ext uri="{BB962C8B-B14F-4D97-AF65-F5344CB8AC3E}">
        <p14:creationId xmlns:p14="http://schemas.microsoft.com/office/powerpoint/2010/main" val="1654761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A020F9-3200-0A4F-67DF-F7FBFD46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45" y="182167"/>
            <a:ext cx="11110793" cy="790956"/>
          </a:xfrm>
        </p:spPr>
        <p:txBody>
          <a:bodyPr/>
          <a:lstStyle/>
          <a:p>
            <a:r>
              <a:rPr lang="pl-PL" sz="4400" dirty="0"/>
              <a:t>Zakres inteligencji obliczeniowej</a:t>
            </a:r>
            <a:endParaRPr lang="pl-PL" dirty="0"/>
          </a:p>
        </p:txBody>
      </p:sp>
      <p:sp>
        <p:nvSpPr>
          <p:cNvPr id="3" name="Symbol zastępczy tekstu 3">
            <a:extLst>
              <a:ext uri="{FF2B5EF4-FFF2-40B4-BE49-F238E27FC236}">
                <a16:creationId xmlns:a16="http://schemas.microsoft.com/office/drawing/2014/main" id="{455EAEB5-7DBF-F4AD-BFE8-4033A679C1F1}"/>
              </a:ext>
            </a:extLst>
          </p:cNvPr>
          <p:cNvSpPr txBox="1">
            <a:spLocks/>
          </p:cNvSpPr>
          <p:nvPr/>
        </p:nvSpPr>
        <p:spPr>
          <a:xfrm>
            <a:off x="659395" y="2032875"/>
            <a:ext cx="11020048" cy="44997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Char char="–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sz="3200" dirty="0"/>
              <a:t>Trzy filary: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3200" dirty="0"/>
              <a:t>Sztuczne sieci neuronowe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3200" dirty="0" err="1"/>
              <a:t>Bioinspirowane</a:t>
            </a:r>
            <a:r>
              <a:rPr lang="pl-PL" sz="3200" dirty="0"/>
              <a:t> algorytmy </a:t>
            </a:r>
            <a:r>
              <a:rPr lang="pl-PL" sz="3200" dirty="0" err="1"/>
              <a:t>metaheurystyczne</a:t>
            </a:r>
            <a:r>
              <a:rPr lang="pl-PL" sz="3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sz="2400" dirty="0"/>
              <a:t>Algorytmy ewolucyjne i genetyczne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sz="2400" dirty="0"/>
              <a:t>Inteligencja roju i algorytmy mrówkowe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3200" dirty="0"/>
              <a:t>Logika rozmyta</a:t>
            </a:r>
          </a:p>
        </p:txBody>
      </p:sp>
    </p:spTree>
    <p:extLst>
      <p:ext uri="{BB962C8B-B14F-4D97-AF65-F5344CB8AC3E}">
        <p14:creationId xmlns:p14="http://schemas.microsoft.com/office/powerpoint/2010/main" val="1916496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2F2894D-6089-535F-978A-AEB444EC2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279B7DC-39E3-6036-4A23-BFA1FB255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568" y="858416"/>
            <a:ext cx="9748007" cy="4917233"/>
          </a:xfrm>
        </p:spPr>
        <p:txBody>
          <a:bodyPr>
            <a:normAutofit fontScale="90000"/>
          </a:bodyPr>
          <a:lstStyle/>
          <a:p>
            <a:r>
              <a:rPr lang="pl-PL" sz="3200" dirty="0"/>
              <a:t>Celem dzisiejszego wykładu jest przegląd technik stosowanych do przygotowania zbioru danych do treningu modelu (do  klasyfikacji lub regresji).</a:t>
            </a:r>
            <a:br>
              <a:rPr lang="pl-PL" sz="3200" dirty="0"/>
            </a:br>
            <a:br>
              <a:rPr lang="pl-PL" sz="3200" dirty="0"/>
            </a:br>
            <a:r>
              <a:rPr lang="pl-PL" sz="3200" dirty="0"/>
              <a:t>Taki </a:t>
            </a:r>
            <a:r>
              <a:rPr lang="pl-PL" sz="3200" dirty="0" err="1">
                <a:solidFill>
                  <a:srgbClr val="00B0F0"/>
                </a:solidFill>
              </a:rPr>
              <a:t>preprocessing</a:t>
            </a:r>
            <a:r>
              <a:rPr lang="pl-PL" sz="3200" dirty="0"/>
              <a:t> danych może się składać z kilku kroków, które po kolei omówimy.</a:t>
            </a:r>
            <a:br>
              <a:rPr lang="pl-PL" sz="3200" dirty="0"/>
            </a:br>
            <a:br>
              <a:rPr lang="pl-PL" sz="3200" dirty="0"/>
            </a:br>
            <a:r>
              <a:rPr lang="pl-PL" sz="3200" dirty="0"/>
              <a:t>Techniki omówione na tym wykładzie to zaledwie ułamek wszystkich stosowanych technik przetwarzania danych. Zachęcam wszystkich do rozeznania się,  czy istnieją inne ciekawe algorytmy.</a:t>
            </a:r>
            <a:endParaRPr lang="pl-PL" sz="32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652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82A38E0-2906-7FA2-0949-1C3091E81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0B9B905-F746-F023-F453-E37475127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7603" y="592688"/>
            <a:ext cx="3750809" cy="5873426"/>
          </a:xfrm>
        </p:spPr>
        <p:txBody>
          <a:bodyPr>
            <a:normAutofit fontScale="90000"/>
          </a:bodyPr>
          <a:lstStyle/>
          <a:p>
            <a:r>
              <a:rPr lang="pl-PL" sz="3600" dirty="0">
                <a:solidFill>
                  <a:srgbClr val="323232"/>
                </a:solidFill>
                <a:latin typeface="Lexend Deca"/>
              </a:rPr>
              <a:t>Praca w zakresie sztucznej inteligencji to w</a:t>
            </a:r>
            <a:r>
              <a:rPr lang="en-GB" sz="3600" b="0" i="0" dirty="0">
                <a:solidFill>
                  <a:srgbClr val="323232"/>
                </a:solidFill>
                <a:effectLst/>
                <a:latin typeface="Lexend Deca"/>
              </a:rPr>
              <a:t> </a:t>
            </a:r>
            <a:r>
              <a:rPr lang="en-GB" sz="3600" b="0" i="0" dirty="0">
                <a:solidFill>
                  <a:srgbClr val="0070C0"/>
                </a:solidFill>
                <a:effectLst/>
                <a:latin typeface="Lexend Deca"/>
              </a:rPr>
              <a:t>80% </a:t>
            </a:r>
            <a:r>
              <a:rPr lang="pl-PL" sz="3600" b="0" i="0" dirty="0">
                <a:solidFill>
                  <a:srgbClr val="323232"/>
                </a:solidFill>
                <a:effectLst/>
                <a:latin typeface="Lexend Deca"/>
              </a:rPr>
              <a:t>przygotowywanie danych</a:t>
            </a:r>
            <a:r>
              <a:rPr lang="en-GB" sz="3600" b="0" i="0" dirty="0">
                <a:solidFill>
                  <a:srgbClr val="323232"/>
                </a:solidFill>
                <a:effectLst/>
                <a:latin typeface="Lexend Deca"/>
              </a:rPr>
              <a:t>, and </a:t>
            </a:r>
            <a:r>
              <a:rPr lang="pl-PL" sz="3600" b="0" i="0" dirty="0">
                <a:solidFill>
                  <a:srgbClr val="0070C0"/>
                </a:solidFill>
                <a:effectLst/>
                <a:latin typeface="Lexend Deca"/>
              </a:rPr>
              <a:t>19</a:t>
            </a:r>
            <a:r>
              <a:rPr lang="en-GB" sz="3600" b="0" i="0" dirty="0">
                <a:solidFill>
                  <a:srgbClr val="0070C0"/>
                </a:solidFill>
                <a:effectLst/>
                <a:latin typeface="Lexend Deca"/>
              </a:rPr>
              <a:t>% </a:t>
            </a:r>
            <a:r>
              <a:rPr lang="pl-PL" sz="3600" b="0" i="0" dirty="0">
                <a:solidFill>
                  <a:srgbClr val="323232"/>
                </a:solidFill>
                <a:effectLst/>
                <a:latin typeface="Lexend Deca"/>
              </a:rPr>
              <a:t>narzekanie na przygotowywanie danych i </a:t>
            </a:r>
            <a:r>
              <a:rPr lang="pl-PL" sz="3600" b="0" i="0" dirty="0">
                <a:solidFill>
                  <a:srgbClr val="0070C0"/>
                </a:solidFill>
                <a:effectLst/>
                <a:latin typeface="Lexend Deca"/>
              </a:rPr>
              <a:t>1%</a:t>
            </a:r>
            <a:r>
              <a:rPr lang="pl-PL" sz="3600" b="0" i="0" dirty="0">
                <a:solidFill>
                  <a:srgbClr val="323232"/>
                </a:solidFill>
                <a:effectLst/>
                <a:latin typeface="Lexend Deca"/>
              </a:rPr>
              <a:t> optymalizacja algorytmów uczących</a:t>
            </a:r>
            <a:r>
              <a:rPr lang="en-GB" sz="3600" b="0" i="0" dirty="0">
                <a:solidFill>
                  <a:srgbClr val="323232"/>
                </a:solidFill>
                <a:effectLst/>
                <a:latin typeface="Lexend Deca"/>
              </a:rPr>
              <a:t>.</a:t>
            </a:r>
            <a:br>
              <a:rPr lang="pl-PL" sz="3600" dirty="0"/>
            </a:br>
            <a:br>
              <a:rPr lang="pl-PL" sz="3600" dirty="0"/>
            </a:br>
            <a:endParaRPr lang="pl-PL" sz="36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Picture 4" descr="A person sitting at a desk with multiple computer screens&#10;&#10;Description automatically generated">
            <a:extLst>
              <a:ext uri="{FF2B5EF4-FFF2-40B4-BE49-F238E27FC236}">
                <a16:creationId xmlns:a16="http://schemas.microsoft.com/office/drawing/2014/main" id="{F6FC06F2-69FF-5AFF-6A89-86C223CB2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23314" cy="6923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769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A020F9-3200-0A4F-67DF-F7FBFD46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568" y="1708962"/>
            <a:ext cx="9748007" cy="3047595"/>
          </a:xfrm>
        </p:spPr>
        <p:txBody>
          <a:bodyPr>
            <a:normAutofit/>
          </a:bodyPr>
          <a:lstStyle/>
          <a:p>
            <a:r>
              <a:rPr lang="pl-PL" sz="3200" dirty="0"/>
              <a:t>Krok I: Usuwanie błędnych danych</a:t>
            </a:r>
            <a:br>
              <a:rPr lang="pl-PL" sz="3200" dirty="0"/>
            </a:br>
            <a:r>
              <a:rPr lang="pl-PL" sz="1100" dirty="0"/>
              <a:t> </a:t>
            </a:r>
            <a:br>
              <a:rPr lang="pl-PL" sz="3200" dirty="0"/>
            </a:br>
            <a:r>
              <a:rPr lang="pl-PL" sz="3200" dirty="0">
                <a:solidFill>
                  <a:schemeClr val="bg1">
                    <a:lumMod val="75000"/>
                  </a:schemeClr>
                </a:solidFill>
              </a:rPr>
              <a:t>Krok II: Usuwanie brakujących danych</a:t>
            </a:r>
            <a:br>
              <a:rPr lang="pl-PL" sz="32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pl-PL" sz="1100" dirty="0">
                <a:solidFill>
                  <a:schemeClr val="bg1">
                    <a:lumMod val="75000"/>
                  </a:schemeClr>
                </a:solidFill>
              </a:rPr>
              <a:t> </a:t>
            </a:r>
            <a:br>
              <a:rPr lang="pl-PL" sz="32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pl-PL" sz="3200" dirty="0">
                <a:solidFill>
                  <a:schemeClr val="bg1">
                    <a:lumMod val="75000"/>
                  </a:schemeClr>
                </a:solidFill>
              </a:rPr>
              <a:t>Krok III:  Optymalizowanie struktury zbioru danych</a:t>
            </a:r>
            <a:br>
              <a:rPr lang="pl-PL" sz="32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pl-PL" sz="1100" dirty="0">
                <a:solidFill>
                  <a:schemeClr val="bg1">
                    <a:lumMod val="75000"/>
                  </a:schemeClr>
                </a:solidFill>
              </a:rPr>
              <a:t> </a:t>
            </a:r>
            <a:br>
              <a:rPr lang="pl-PL" sz="32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pl-PL" sz="3200" dirty="0">
                <a:solidFill>
                  <a:schemeClr val="bg1">
                    <a:lumMod val="75000"/>
                  </a:schemeClr>
                </a:solidFill>
              </a:rPr>
              <a:t>Krok IV:  Normalizacja danych</a:t>
            </a:r>
          </a:p>
        </p:txBody>
      </p:sp>
    </p:spTree>
    <p:extLst>
      <p:ext uri="{BB962C8B-B14F-4D97-AF65-F5344CB8AC3E}">
        <p14:creationId xmlns:p14="http://schemas.microsoft.com/office/powerpoint/2010/main" val="1574378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96048-0795-D3C6-A010-5261B5CEC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AFFAA7B-E8D3-FD78-3FFB-EB788D0F2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45" y="182167"/>
            <a:ext cx="11110793" cy="790956"/>
          </a:xfrm>
        </p:spPr>
        <p:txBody>
          <a:bodyPr/>
          <a:lstStyle/>
          <a:p>
            <a:r>
              <a:rPr lang="pl-PL" sz="4400" dirty="0"/>
              <a:t>Krok I: Usuwanie błędnych danych</a:t>
            </a:r>
            <a:endParaRPr lang="pl-PL" dirty="0"/>
          </a:p>
        </p:txBody>
      </p:sp>
      <p:sp>
        <p:nvSpPr>
          <p:cNvPr id="3" name="Symbol zastępczy tekstu 3">
            <a:extLst>
              <a:ext uri="{FF2B5EF4-FFF2-40B4-BE49-F238E27FC236}">
                <a16:creationId xmlns:a16="http://schemas.microsoft.com/office/drawing/2014/main" id="{54AE2C1A-B3E9-2BFC-68BF-3094C3A5DA24}"/>
              </a:ext>
            </a:extLst>
          </p:cNvPr>
          <p:cNvSpPr txBox="1">
            <a:spLocks/>
          </p:cNvSpPr>
          <p:nvPr/>
        </p:nvSpPr>
        <p:spPr>
          <a:xfrm>
            <a:off x="556759" y="1314417"/>
            <a:ext cx="10843879" cy="51283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Char char="–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Różne modele AI potrzebują danych do trenowania. Dane są często dostępne w formie </a:t>
            </a:r>
            <a:r>
              <a:rPr lang="pl-PL" dirty="0" err="1"/>
              <a:t>datasetów</a:t>
            </a:r>
            <a:r>
              <a:rPr lang="pl-PL" dirty="0"/>
              <a:t> – prostych zbiorów danych, najczęściej w formie tabelki </a:t>
            </a:r>
            <a:r>
              <a:rPr lang="pl-PL" dirty="0" err="1"/>
              <a:t>csv</a:t>
            </a:r>
            <a:r>
              <a:rPr lang="pl-PL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Przykłady: pomiary kwiatów (irysów) oraz diagnoza cukrzycy na podstawie parametrów medycznych.</a:t>
            </a:r>
          </a:p>
        </p:txBody>
      </p:sp>
      <p:pic>
        <p:nvPicPr>
          <p:cNvPr id="4098" name="Picture 2" descr="iris dataset python code for Sale &gt; OFF-70%">
            <a:extLst>
              <a:ext uri="{FF2B5EF4-FFF2-40B4-BE49-F238E27FC236}">
                <a16:creationId xmlns:a16="http://schemas.microsoft.com/office/drawing/2014/main" id="{197BAAC2-40B1-079C-63FE-A75C4994F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759" y="3699544"/>
            <a:ext cx="6874726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ollage of different flowers&#10;&#10;Description automatically generated">
            <a:extLst>
              <a:ext uri="{FF2B5EF4-FFF2-40B4-BE49-F238E27FC236}">
                <a16:creationId xmlns:a16="http://schemas.microsoft.com/office/drawing/2014/main" id="{AD9B74FD-5E25-2932-BB0E-45BC9F3F65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500" y="3184059"/>
            <a:ext cx="3490314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453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B7B84-B2FE-1625-8558-1FDE98191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F90241-58D2-D7F5-570F-5CE1A5EF3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45" y="182167"/>
            <a:ext cx="11110793" cy="790956"/>
          </a:xfrm>
        </p:spPr>
        <p:txBody>
          <a:bodyPr/>
          <a:lstStyle/>
          <a:p>
            <a:r>
              <a:rPr lang="pl-PL" sz="4400" dirty="0"/>
              <a:t>Krok I: Usuwanie błędnych danych</a:t>
            </a:r>
            <a:endParaRPr lang="pl-PL" dirty="0"/>
          </a:p>
        </p:txBody>
      </p:sp>
      <p:sp>
        <p:nvSpPr>
          <p:cNvPr id="3" name="Symbol zastępczy tekstu 3">
            <a:extLst>
              <a:ext uri="{FF2B5EF4-FFF2-40B4-BE49-F238E27FC236}">
                <a16:creationId xmlns:a16="http://schemas.microsoft.com/office/drawing/2014/main" id="{13BB5AAD-0C5C-F64C-CC75-490FE853B867}"/>
              </a:ext>
            </a:extLst>
          </p:cNvPr>
          <p:cNvSpPr txBox="1">
            <a:spLocks/>
          </p:cNvSpPr>
          <p:nvPr/>
        </p:nvSpPr>
        <p:spPr>
          <a:xfrm>
            <a:off x="556759" y="1314417"/>
            <a:ext cx="10843879" cy="51283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Char char="–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Przykłady: pomiary kwiatów (irysów) oraz diagnoza cukrzycy na podstawie parametrów medycznych.</a:t>
            </a:r>
          </a:p>
        </p:txBody>
      </p:sp>
      <p:pic>
        <p:nvPicPr>
          <p:cNvPr id="5122" name="Picture 2" descr="Classification of Diabetes using Naive Bayes in Python | by Pragya Paudyal,  PhD | Medium">
            <a:extLst>
              <a:ext uri="{FF2B5EF4-FFF2-40B4-BE49-F238E27FC236}">
                <a16:creationId xmlns:a16="http://schemas.microsoft.com/office/drawing/2014/main" id="{FFF46C16-6DF3-954D-B1E5-A381BAFAB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640" y="2327944"/>
            <a:ext cx="10518709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1627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A020F9-3200-0A4F-67DF-F7FBFD46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45" y="182167"/>
            <a:ext cx="11110793" cy="790956"/>
          </a:xfrm>
        </p:spPr>
        <p:txBody>
          <a:bodyPr/>
          <a:lstStyle/>
          <a:p>
            <a:r>
              <a:rPr lang="pl-PL" sz="4400" dirty="0"/>
              <a:t>Krok I: Usuwanie błędnych danych</a:t>
            </a:r>
            <a:endParaRPr lang="pl-PL" dirty="0"/>
          </a:p>
        </p:txBody>
      </p:sp>
      <p:sp>
        <p:nvSpPr>
          <p:cNvPr id="3" name="Symbol zastępczy tekstu 3">
            <a:extLst>
              <a:ext uri="{FF2B5EF4-FFF2-40B4-BE49-F238E27FC236}">
                <a16:creationId xmlns:a16="http://schemas.microsoft.com/office/drawing/2014/main" id="{455EAEB5-7DBF-F4AD-BFE8-4033A679C1F1}"/>
              </a:ext>
            </a:extLst>
          </p:cNvPr>
          <p:cNvSpPr txBox="1">
            <a:spLocks/>
          </p:cNvSpPr>
          <p:nvPr/>
        </p:nvSpPr>
        <p:spPr>
          <a:xfrm>
            <a:off x="556759" y="1314417"/>
            <a:ext cx="9640735" cy="51283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Char char="–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Nasza baza danych może być strukturalnie błędna (np. nierówne wymiary kolumn lub wierszy, brak cudzysłowów ograniczających teksty, brak średników pomiędzy danymi), co uniemożliwia nam jej wczytanie do </a:t>
            </a:r>
            <a:r>
              <a:rPr lang="pl-PL" dirty="0" err="1"/>
              <a:t>Pythona</a:t>
            </a:r>
            <a:r>
              <a:rPr lang="pl-PL" dirty="0"/>
              <a:t>. Takie błędy należy poprawić na samym początku.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Następnie warto sprawdzić czy kolumny są dobrze sformatowane i mają dane tego samego typu. Bywa, że w obrębie jednej kolumny są pomieszane teksty i liczby.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Uwaga! Czasem w kolumnie liczbowej mogą pojawić się napisy „</a:t>
            </a:r>
            <a:r>
              <a:rPr lang="pl-PL" dirty="0">
                <a:solidFill>
                  <a:srgbClr val="00B0F0"/>
                </a:solidFill>
              </a:rPr>
              <a:t>n/a</a:t>
            </a:r>
            <a:r>
              <a:rPr lang="pl-PL" dirty="0"/>
              <a:t>” lub podobne, sugerujące brak danych. O nich powiemy dalej.</a:t>
            </a:r>
          </a:p>
        </p:txBody>
      </p:sp>
    </p:spTree>
    <p:extLst>
      <p:ext uri="{BB962C8B-B14F-4D97-AF65-F5344CB8AC3E}">
        <p14:creationId xmlns:p14="http://schemas.microsoft.com/office/powerpoint/2010/main" val="2920451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A020F9-3200-0A4F-67DF-F7FBFD46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45" y="182167"/>
            <a:ext cx="11110793" cy="790956"/>
          </a:xfrm>
        </p:spPr>
        <p:txBody>
          <a:bodyPr/>
          <a:lstStyle/>
          <a:p>
            <a:r>
              <a:rPr lang="pl-PL" sz="4400" dirty="0"/>
              <a:t>Krok I: Usuwanie błędnych danych</a:t>
            </a:r>
            <a:endParaRPr lang="pl-PL" dirty="0"/>
          </a:p>
        </p:txBody>
      </p:sp>
      <p:sp>
        <p:nvSpPr>
          <p:cNvPr id="3" name="Symbol zastępczy tekstu 3">
            <a:extLst>
              <a:ext uri="{FF2B5EF4-FFF2-40B4-BE49-F238E27FC236}">
                <a16:creationId xmlns:a16="http://schemas.microsoft.com/office/drawing/2014/main" id="{455EAEB5-7DBF-F4AD-BFE8-4033A679C1F1}"/>
              </a:ext>
            </a:extLst>
          </p:cNvPr>
          <p:cNvSpPr txBox="1">
            <a:spLocks/>
          </p:cNvSpPr>
          <p:nvPr/>
        </p:nvSpPr>
        <p:spPr>
          <a:xfrm>
            <a:off x="556759" y="1314418"/>
            <a:ext cx="11020048" cy="44997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Char char="–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Następnie warto zastanowić się, czy w obrębie danych występują błędy.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W przypadku danych kategorycznych (jakościowych) niektóre wartości mogą nie wchodzić w skład domyślnego zakresu, np. kolumna z wynikiem testu na chorobę zawiera wartości </a:t>
            </a:r>
            <a:r>
              <a:rPr lang="pl-PL" dirty="0" err="1">
                <a:solidFill>
                  <a:srgbClr val="00B0F0"/>
                </a:solidFill>
              </a:rPr>
              <a:t>negative</a:t>
            </a:r>
            <a:r>
              <a:rPr lang="pl-PL" dirty="0"/>
              <a:t>, </a:t>
            </a:r>
            <a:r>
              <a:rPr lang="pl-PL" dirty="0" err="1">
                <a:solidFill>
                  <a:srgbClr val="00B0F0"/>
                </a:solidFill>
              </a:rPr>
              <a:t>positive</a:t>
            </a:r>
            <a:r>
              <a:rPr lang="pl-PL" dirty="0"/>
              <a:t>, ale jeden rekord danych zawiera </a:t>
            </a:r>
            <a:r>
              <a:rPr lang="pl-PL" dirty="0" err="1">
                <a:solidFill>
                  <a:srgbClr val="00B0F0"/>
                </a:solidFill>
              </a:rPr>
              <a:t>test_positive</a:t>
            </a:r>
            <a:r>
              <a:rPr lang="pl-PL" dirty="0"/>
              <a:t>. Wówczas oczywiście dane poprawiamy.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Bywa jednak, że dane są niejasne i nie wiemy co oznaczają. Jeśli dla powyższego przykładu pojawiłaby się wartość </a:t>
            </a:r>
            <a:r>
              <a:rPr lang="pl-PL" dirty="0" err="1">
                <a:solidFill>
                  <a:srgbClr val="00B0F0"/>
                </a:solidFill>
              </a:rPr>
              <a:t>done</a:t>
            </a:r>
            <a:r>
              <a:rPr lang="pl-PL" dirty="0"/>
              <a:t>. To nie wiemy nic o diagnozie. Wówczas dobrym pomysłem jest zamiana tych danych na brak danych (np. </a:t>
            </a:r>
            <a:r>
              <a:rPr lang="pl-PL" dirty="0">
                <a:solidFill>
                  <a:srgbClr val="00B0F0"/>
                </a:solidFill>
              </a:rPr>
              <a:t>n/a</a:t>
            </a:r>
            <a:r>
              <a:rPr lang="pl-PL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536964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E04B21B-61DD-A2BF-59A3-77C5C88AE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09E2A51-486C-5984-37A1-6DDE9E3D7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45" y="182167"/>
            <a:ext cx="11110793" cy="790956"/>
          </a:xfrm>
        </p:spPr>
        <p:txBody>
          <a:bodyPr/>
          <a:lstStyle/>
          <a:p>
            <a:r>
              <a:rPr lang="pl-PL" sz="4400" dirty="0"/>
              <a:t>Krok I: Usuwanie błędnych danych</a:t>
            </a:r>
            <a:endParaRPr lang="pl-PL" dirty="0"/>
          </a:p>
        </p:txBody>
      </p:sp>
      <p:pic>
        <p:nvPicPr>
          <p:cNvPr id="6" name="Picture 5" descr="A bird in space with stars and nebula&#10;&#10;Description automatically generated">
            <a:extLst>
              <a:ext uri="{FF2B5EF4-FFF2-40B4-BE49-F238E27FC236}">
                <a16:creationId xmlns:a16="http://schemas.microsoft.com/office/drawing/2014/main" id="{516E58E8-0F21-B577-5EB6-CEEB2CFFF4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14450"/>
            <a:ext cx="4819650" cy="4819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B1139D-969B-9B2A-3729-BAD961870D1B}"/>
              </a:ext>
            </a:extLst>
          </p:cNvPr>
          <p:cNvSpPr txBox="1"/>
          <p:nvPr/>
        </p:nvSpPr>
        <p:spPr>
          <a:xfrm>
            <a:off x="6096000" y="1524000"/>
            <a:ext cx="4114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Ptaki lecące  prędkością nadświetlną?</a:t>
            </a:r>
          </a:p>
          <a:p>
            <a:endParaRPr lang="pl-PL" sz="3200" dirty="0"/>
          </a:p>
          <a:p>
            <a:r>
              <a:rPr lang="pl-PL" sz="3200" dirty="0"/>
              <a:t>W </a:t>
            </a:r>
            <a:r>
              <a:rPr lang="pl-PL" sz="3200" dirty="0" err="1"/>
              <a:t>datasecie</a:t>
            </a:r>
            <a:r>
              <a:rPr lang="pl-PL" sz="3200" dirty="0"/>
              <a:t> wszystko jest możliwe.</a:t>
            </a:r>
          </a:p>
          <a:p>
            <a:r>
              <a:rPr lang="pl-PL" sz="3200" dirty="0"/>
              <a:t>Zdarzyło mi się </a:t>
            </a:r>
            <a:r>
              <a:rPr lang="pl-PL" sz="3200" dirty="0">
                <a:sym typeface="Wingdings" panose="05000000000000000000" pitchFamily="2" charset="2"/>
              </a:rPr>
              <a:t>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220851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86CDE-2862-AEB5-E8A5-39D88E7DF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8CE9FAB-ACC4-125F-BC79-93FB3863C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45" y="182167"/>
            <a:ext cx="11110793" cy="790956"/>
          </a:xfrm>
        </p:spPr>
        <p:txBody>
          <a:bodyPr/>
          <a:lstStyle/>
          <a:p>
            <a:r>
              <a:rPr lang="pl-PL" sz="4400" dirty="0"/>
              <a:t>Krok I: Usuwanie błędnych danych</a:t>
            </a:r>
            <a:endParaRPr lang="pl-PL" dirty="0"/>
          </a:p>
        </p:txBody>
      </p:sp>
      <p:sp>
        <p:nvSpPr>
          <p:cNvPr id="3" name="Symbol zastępczy tekstu 3">
            <a:extLst>
              <a:ext uri="{FF2B5EF4-FFF2-40B4-BE49-F238E27FC236}">
                <a16:creationId xmlns:a16="http://schemas.microsoft.com/office/drawing/2014/main" id="{F872AA3D-E4DF-3E35-DF60-6FC29F2E0855}"/>
              </a:ext>
            </a:extLst>
          </p:cNvPr>
          <p:cNvSpPr txBox="1">
            <a:spLocks/>
          </p:cNvSpPr>
          <p:nvPr/>
        </p:nvSpPr>
        <p:spPr>
          <a:xfrm>
            <a:off x="556759" y="1314418"/>
            <a:ext cx="11020048" cy="44997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Char char="–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Jeszcze więcej problemów sprawiają dane liczbowe.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Jeśli długość płatka irysa wynosi </a:t>
            </a:r>
            <a:r>
              <a:rPr lang="pl-PL" dirty="0">
                <a:solidFill>
                  <a:srgbClr val="00B0F0"/>
                </a:solidFill>
              </a:rPr>
              <a:t>-0.5 </a:t>
            </a:r>
            <a:r>
              <a:rPr lang="pl-PL" dirty="0"/>
              <a:t>to wiemy, że mamy do czynienia z błędem, i taką liczbę również można podmienić na </a:t>
            </a:r>
            <a:r>
              <a:rPr lang="pl-PL" dirty="0">
                <a:solidFill>
                  <a:srgbClr val="00B0F0"/>
                </a:solidFill>
              </a:rPr>
              <a:t>n/a</a:t>
            </a:r>
            <a:r>
              <a:rPr lang="pl-PL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Jeśli wiemy, że irysy mają płatki w granicach </a:t>
            </a:r>
            <a:r>
              <a:rPr lang="pl-PL" dirty="0">
                <a:solidFill>
                  <a:srgbClr val="00B0F0"/>
                </a:solidFill>
              </a:rPr>
              <a:t>10</a:t>
            </a:r>
            <a:r>
              <a:rPr lang="pl-PL" dirty="0"/>
              <a:t> cm, to gdy pojawi się liczba </a:t>
            </a:r>
            <a:r>
              <a:rPr lang="pl-PL" dirty="0">
                <a:solidFill>
                  <a:srgbClr val="00B0F0"/>
                </a:solidFill>
              </a:rPr>
              <a:t>30</a:t>
            </a:r>
            <a:r>
              <a:rPr lang="pl-PL" dirty="0"/>
              <a:t>, to również klasyfikuje się ona jako błąd do usunięcia.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Nie zawsze jednak jest jasne, jaki przedział danych liczbowych jest dobry. Są pewne techniki, które usuwają </a:t>
            </a:r>
            <a:r>
              <a:rPr lang="pl-PL" dirty="0">
                <a:solidFill>
                  <a:srgbClr val="00B0F0"/>
                </a:solidFill>
              </a:rPr>
              <a:t>dane odstające </a:t>
            </a:r>
            <a:r>
              <a:rPr lang="pl-PL" dirty="0"/>
              <a:t>(ang. </a:t>
            </a:r>
            <a:r>
              <a:rPr lang="pl-PL" dirty="0" err="1">
                <a:solidFill>
                  <a:srgbClr val="00B0F0"/>
                </a:solidFill>
              </a:rPr>
              <a:t>outliers</a:t>
            </a:r>
            <a:r>
              <a:rPr lang="pl-PL" dirty="0"/>
              <a:t>). W wielu przypadkach dane te są błędne i można je wykluczyć ze zbioru danych.</a:t>
            </a:r>
          </a:p>
        </p:txBody>
      </p:sp>
      <p:pic>
        <p:nvPicPr>
          <p:cNvPr id="1026" name="Picture 2" descr="Outliers-Part 1:Causes, Philosophy and General Rules | Ou Zhang">
            <a:extLst>
              <a:ext uri="{FF2B5EF4-FFF2-40B4-BE49-F238E27FC236}">
                <a16:creationId xmlns:a16="http://schemas.microsoft.com/office/drawing/2014/main" id="{FA671B0D-1788-7B5B-78FB-9B38C4086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7891" y="4790612"/>
            <a:ext cx="3088697" cy="2047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3094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A020F9-3200-0A4F-67DF-F7FBFD46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45" y="182167"/>
            <a:ext cx="11110793" cy="790956"/>
          </a:xfrm>
        </p:spPr>
        <p:txBody>
          <a:bodyPr/>
          <a:lstStyle/>
          <a:p>
            <a:r>
              <a:rPr lang="pl-PL" sz="4400" dirty="0"/>
              <a:t>Krok I: Usuwanie błędnych danych</a:t>
            </a:r>
            <a:endParaRPr lang="pl-PL" dirty="0"/>
          </a:p>
        </p:txBody>
      </p:sp>
      <p:sp>
        <p:nvSpPr>
          <p:cNvPr id="3" name="Symbol zastępczy tekstu 3">
            <a:extLst>
              <a:ext uri="{FF2B5EF4-FFF2-40B4-BE49-F238E27FC236}">
                <a16:creationId xmlns:a16="http://schemas.microsoft.com/office/drawing/2014/main" id="{455EAEB5-7DBF-F4AD-BFE8-4033A679C1F1}"/>
              </a:ext>
            </a:extLst>
          </p:cNvPr>
          <p:cNvSpPr txBox="1">
            <a:spLocks/>
          </p:cNvSpPr>
          <p:nvPr/>
        </p:nvSpPr>
        <p:spPr>
          <a:xfrm>
            <a:off x="556759" y="1314418"/>
            <a:ext cx="11020048" cy="44997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Char char="–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Jak zidentyfikować obserwacje odstające do ich usunięcia? Są na to różne sposoby.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Można wykorzystać </a:t>
            </a:r>
            <a:r>
              <a:rPr lang="pl-PL" dirty="0">
                <a:solidFill>
                  <a:srgbClr val="00B0F0"/>
                </a:solidFill>
              </a:rPr>
              <a:t>rozstęp ćwiartkowy </a:t>
            </a:r>
            <a:r>
              <a:rPr lang="pl-PL" dirty="0"/>
              <a:t>czy </a:t>
            </a:r>
            <a:r>
              <a:rPr lang="pl-PL" dirty="0" err="1">
                <a:solidFill>
                  <a:srgbClr val="00B0F0"/>
                </a:solidFill>
              </a:rPr>
              <a:t>międzykwartylowy</a:t>
            </a:r>
            <a:r>
              <a:rPr lang="pl-PL" dirty="0"/>
              <a:t> (</a:t>
            </a:r>
            <a:r>
              <a:rPr lang="pl-PL" dirty="0" err="1">
                <a:solidFill>
                  <a:srgbClr val="00B0F0"/>
                </a:solidFill>
              </a:rPr>
              <a:t>interquartile</a:t>
            </a:r>
            <a:r>
              <a:rPr lang="pl-PL" dirty="0">
                <a:solidFill>
                  <a:srgbClr val="00B0F0"/>
                </a:solidFill>
              </a:rPr>
              <a:t> </a:t>
            </a:r>
            <a:r>
              <a:rPr lang="pl-PL" dirty="0" err="1">
                <a:solidFill>
                  <a:srgbClr val="00B0F0"/>
                </a:solidFill>
              </a:rPr>
              <a:t>range</a:t>
            </a:r>
            <a:r>
              <a:rPr lang="pl-PL" dirty="0"/>
              <a:t>, </a:t>
            </a:r>
            <a:r>
              <a:rPr lang="pl-PL" dirty="0">
                <a:solidFill>
                  <a:srgbClr val="00B0F0"/>
                </a:solidFill>
              </a:rPr>
              <a:t>IQR</a:t>
            </a:r>
            <a:r>
              <a:rPr lang="pl-PL" dirty="0"/>
              <a:t>), czyli odległość między pierwszym a trzecim </a:t>
            </a:r>
            <a:r>
              <a:rPr lang="pl-PL" dirty="0" err="1"/>
              <a:t>kwartylem</a:t>
            </a:r>
            <a:r>
              <a:rPr lang="pl-PL" dirty="0"/>
              <a:t>. Następnie wykorzystać go do obliczenia przedziału „dobrych” danych.</a:t>
            </a:r>
          </a:p>
          <a:p>
            <a:pPr marL="0" indent="0">
              <a:buNone/>
            </a:pPr>
            <a:r>
              <a:rPr lang="pl-PL" dirty="0"/>
              <a:t>		IQR = Q3 – Q1</a:t>
            </a:r>
          </a:p>
          <a:p>
            <a:pPr marL="0" indent="0">
              <a:buNone/>
            </a:pPr>
            <a:r>
              <a:rPr lang="pl-PL" dirty="0"/>
              <a:t>		</a:t>
            </a:r>
            <a:r>
              <a:rPr lang="pl-PL" dirty="0" err="1"/>
              <a:t>PrzedziałDobrychDanych</a:t>
            </a:r>
            <a:r>
              <a:rPr lang="pl-PL" dirty="0"/>
              <a:t> = [ Q1-1.5*IQR, Q3+1.5*IQR]</a:t>
            </a:r>
          </a:p>
        </p:txBody>
      </p:sp>
      <p:pic>
        <p:nvPicPr>
          <p:cNvPr id="2050" name="Picture 2" descr="IQR (Interquartile Range)">
            <a:extLst>
              <a:ext uri="{FF2B5EF4-FFF2-40B4-BE49-F238E27FC236}">
                <a16:creationId xmlns:a16="http://schemas.microsoft.com/office/drawing/2014/main" id="{BE52E515-E1F0-DC21-7C21-FE6E7AFB4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9745" y="4518053"/>
            <a:ext cx="4867564" cy="1836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712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A020F9-3200-0A4F-67DF-F7FBFD46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45" y="182167"/>
            <a:ext cx="11110793" cy="790956"/>
          </a:xfrm>
        </p:spPr>
        <p:txBody>
          <a:bodyPr/>
          <a:lstStyle/>
          <a:p>
            <a:r>
              <a:rPr lang="pl-PL" sz="4400" dirty="0"/>
              <a:t>Krok I: Usuwanie błędnych danych</a:t>
            </a:r>
            <a:endParaRPr lang="pl-PL" dirty="0"/>
          </a:p>
        </p:txBody>
      </p:sp>
      <p:sp>
        <p:nvSpPr>
          <p:cNvPr id="3" name="Symbol zastępczy tekstu 3">
            <a:extLst>
              <a:ext uri="{FF2B5EF4-FFF2-40B4-BE49-F238E27FC236}">
                <a16:creationId xmlns:a16="http://schemas.microsoft.com/office/drawing/2014/main" id="{455EAEB5-7DBF-F4AD-BFE8-4033A679C1F1}"/>
              </a:ext>
            </a:extLst>
          </p:cNvPr>
          <p:cNvSpPr txBox="1">
            <a:spLocks/>
          </p:cNvSpPr>
          <p:nvPr/>
        </p:nvSpPr>
        <p:spPr>
          <a:xfrm>
            <a:off x="556759" y="1314418"/>
            <a:ext cx="11020048" cy="44997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Char char="–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Jak zidentyfikować obserwacje odstające do ich usunięcia? Są na to różne sposoby.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Drugi sposób to obliczanie tzw. </a:t>
            </a:r>
            <a:r>
              <a:rPr lang="pl-PL" dirty="0">
                <a:solidFill>
                  <a:srgbClr val="00B0F0"/>
                </a:solidFill>
              </a:rPr>
              <a:t>z-</a:t>
            </a:r>
            <a:r>
              <a:rPr lang="pl-PL" dirty="0" err="1">
                <a:solidFill>
                  <a:srgbClr val="00B0F0"/>
                </a:solidFill>
              </a:rPr>
              <a:t>score</a:t>
            </a:r>
            <a:r>
              <a:rPr lang="pl-PL" dirty="0"/>
              <a:t> (</a:t>
            </a:r>
            <a:r>
              <a:rPr lang="pl-PL" dirty="0">
                <a:solidFill>
                  <a:srgbClr val="00B0F0"/>
                </a:solidFill>
              </a:rPr>
              <a:t>standardowy wynik</a:t>
            </a:r>
            <a:r>
              <a:rPr lang="pl-PL" dirty="0"/>
              <a:t>). Jest to stopień odchylenia wartości x od średniej i dany jest wzorem </a:t>
            </a:r>
            <a:r>
              <a:rPr lang="pl-PL" sz="2000" dirty="0">
                <a:solidFill>
                  <a:srgbClr val="00B0F0"/>
                </a:solidFill>
              </a:rPr>
              <a:t>z = (x – średnia)/</a:t>
            </a:r>
            <a:r>
              <a:rPr lang="pl-PL" sz="2000" dirty="0" err="1">
                <a:solidFill>
                  <a:srgbClr val="00B0F0"/>
                </a:solidFill>
              </a:rPr>
              <a:t>odch.stand</a:t>
            </a:r>
            <a:r>
              <a:rPr lang="pl-PL" dirty="0"/>
              <a:t>.</a:t>
            </a:r>
          </a:p>
          <a:p>
            <a:pPr marL="0" indent="0">
              <a:buNone/>
            </a:pPr>
            <a:r>
              <a:rPr lang="pl-PL" dirty="0"/>
              <a:t>		</a:t>
            </a:r>
          </a:p>
        </p:txBody>
      </p:sp>
      <p:pic>
        <p:nvPicPr>
          <p:cNvPr id="3074" name="Picture 2" descr="Dealing with outliers using the Z-Score method - Analytics Vidhya">
            <a:extLst>
              <a:ext uri="{FF2B5EF4-FFF2-40B4-BE49-F238E27FC236}">
                <a16:creationId xmlns:a16="http://schemas.microsoft.com/office/drawing/2014/main" id="{E6D29A6D-37FA-47D0-5217-1A436CDC2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7470" y="3010442"/>
            <a:ext cx="5464639" cy="3559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E87B879B-ED9F-B3F1-DA6D-4597FA3465AE}"/>
              </a:ext>
            </a:extLst>
          </p:cNvPr>
          <p:cNvSpPr txBox="1"/>
          <p:nvPr/>
        </p:nvSpPr>
        <p:spPr>
          <a:xfrm>
            <a:off x="8442036" y="6262255"/>
            <a:ext cx="3315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000" dirty="0">
                <a:solidFill>
                  <a:schemeClr val="bg1">
                    <a:lumMod val="75000"/>
                  </a:schemeClr>
                </a:solidFill>
              </a:rPr>
              <a:t>https://www.analyticsvidhya.com/blog/2022/08/dealing-with-outliers-using-the-z-score-method/</a:t>
            </a:r>
          </a:p>
        </p:txBody>
      </p:sp>
    </p:spTree>
    <p:extLst>
      <p:ext uri="{BB962C8B-B14F-4D97-AF65-F5344CB8AC3E}">
        <p14:creationId xmlns:p14="http://schemas.microsoft.com/office/powerpoint/2010/main" val="1087141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A020F9-3200-0A4F-67DF-F7FBFD46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568" y="1708962"/>
            <a:ext cx="9748007" cy="3047595"/>
          </a:xfrm>
        </p:spPr>
        <p:txBody>
          <a:bodyPr>
            <a:normAutofit/>
          </a:bodyPr>
          <a:lstStyle/>
          <a:p>
            <a:r>
              <a:rPr lang="pl-PL" sz="3200" dirty="0">
                <a:solidFill>
                  <a:schemeClr val="bg1">
                    <a:lumMod val="75000"/>
                  </a:schemeClr>
                </a:solidFill>
              </a:rPr>
              <a:t>Krok I: Usuwanie błędnych danych</a:t>
            </a:r>
            <a:br>
              <a:rPr lang="pl-PL" sz="3200" dirty="0"/>
            </a:br>
            <a:r>
              <a:rPr lang="pl-PL" sz="1100" dirty="0"/>
              <a:t> </a:t>
            </a:r>
            <a:br>
              <a:rPr lang="pl-PL" sz="3200" dirty="0"/>
            </a:br>
            <a:r>
              <a:rPr lang="pl-PL" sz="3200" dirty="0"/>
              <a:t>Krok II: Usuwanie brakujących danych</a:t>
            </a:r>
            <a:br>
              <a:rPr lang="pl-PL" sz="32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pl-PL" sz="1100" dirty="0">
                <a:solidFill>
                  <a:schemeClr val="bg1">
                    <a:lumMod val="75000"/>
                  </a:schemeClr>
                </a:solidFill>
              </a:rPr>
              <a:t> </a:t>
            </a:r>
            <a:br>
              <a:rPr lang="pl-PL" sz="32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pl-PL" sz="3200" dirty="0">
                <a:solidFill>
                  <a:schemeClr val="bg1">
                    <a:lumMod val="75000"/>
                  </a:schemeClr>
                </a:solidFill>
              </a:rPr>
              <a:t>Krok III:  Optymalizowanie struktury zbioru danych</a:t>
            </a:r>
            <a:br>
              <a:rPr lang="pl-PL" sz="32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pl-PL" sz="1100" dirty="0">
                <a:solidFill>
                  <a:schemeClr val="bg1">
                    <a:lumMod val="75000"/>
                  </a:schemeClr>
                </a:solidFill>
              </a:rPr>
              <a:t> </a:t>
            </a:r>
            <a:br>
              <a:rPr lang="pl-PL" sz="32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pl-PL" sz="3200" dirty="0">
                <a:solidFill>
                  <a:schemeClr val="bg1">
                    <a:lumMod val="75000"/>
                  </a:schemeClr>
                </a:solidFill>
              </a:rPr>
              <a:t>Krok IV:  Normalizacja danych</a:t>
            </a:r>
          </a:p>
        </p:txBody>
      </p:sp>
    </p:spTree>
    <p:extLst>
      <p:ext uri="{BB962C8B-B14F-4D97-AF65-F5344CB8AC3E}">
        <p14:creationId xmlns:p14="http://schemas.microsoft.com/office/powerpoint/2010/main" val="1248487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A020F9-3200-0A4F-67DF-F7FBFD46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45" y="182167"/>
            <a:ext cx="11110793" cy="790956"/>
          </a:xfrm>
        </p:spPr>
        <p:txBody>
          <a:bodyPr/>
          <a:lstStyle/>
          <a:p>
            <a:r>
              <a:rPr lang="pl-PL" sz="4400" dirty="0"/>
              <a:t>Krok II: Usuwanie brakujących danych</a:t>
            </a:r>
            <a:endParaRPr lang="pl-PL" dirty="0"/>
          </a:p>
        </p:txBody>
      </p:sp>
      <p:sp>
        <p:nvSpPr>
          <p:cNvPr id="3" name="Symbol zastępczy tekstu 3">
            <a:extLst>
              <a:ext uri="{FF2B5EF4-FFF2-40B4-BE49-F238E27FC236}">
                <a16:creationId xmlns:a16="http://schemas.microsoft.com/office/drawing/2014/main" id="{455EAEB5-7DBF-F4AD-BFE8-4033A679C1F1}"/>
              </a:ext>
            </a:extLst>
          </p:cNvPr>
          <p:cNvSpPr txBox="1">
            <a:spLocks/>
          </p:cNvSpPr>
          <p:nvPr/>
        </p:nvSpPr>
        <p:spPr>
          <a:xfrm>
            <a:off x="556759" y="1314418"/>
            <a:ext cx="9640735" cy="44997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Char char="–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00B0F0"/>
                </a:solidFill>
              </a:rPr>
              <a:t>Brakujące dane </a:t>
            </a:r>
            <a:r>
              <a:rPr lang="pl-PL" dirty="0"/>
              <a:t>(ang. missing data/</a:t>
            </a:r>
            <a:r>
              <a:rPr lang="pl-PL" dirty="0" err="1"/>
              <a:t>values</a:t>
            </a:r>
            <a:r>
              <a:rPr lang="pl-PL" dirty="0"/>
              <a:t>) to bardzo częsty problem w bazach danych.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Braki danych mogą wynikać z usterek bazy danych, lub ze sposobu pobierania danych (np. ankietowani nie zawsze wszystko wypełnią).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Gdy baza danych jest bardziej pusta niż pełna, trzeba się zastanowić, czy w ogóle wystarczy do naszych badań.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Brakujące dane mogą być oznaczone jako: </a:t>
            </a:r>
            <a:r>
              <a:rPr lang="pl-PL" dirty="0">
                <a:solidFill>
                  <a:srgbClr val="00B0F0"/>
                </a:solidFill>
              </a:rPr>
              <a:t>puste komórki</a:t>
            </a:r>
            <a:r>
              <a:rPr lang="pl-PL" dirty="0"/>
              <a:t>, </a:t>
            </a:r>
            <a:r>
              <a:rPr lang="pl-PL" dirty="0">
                <a:solidFill>
                  <a:srgbClr val="00B0F0"/>
                </a:solidFill>
              </a:rPr>
              <a:t>białe znaki</a:t>
            </a:r>
            <a:r>
              <a:rPr lang="pl-PL" dirty="0"/>
              <a:t>, symbol „</a:t>
            </a:r>
            <a:r>
              <a:rPr lang="pl-PL" dirty="0">
                <a:solidFill>
                  <a:srgbClr val="00B0F0"/>
                </a:solidFill>
              </a:rPr>
              <a:t>?</a:t>
            </a:r>
            <a:r>
              <a:rPr lang="pl-PL" dirty="0"/>
              <a:t>”, „</a:t>
            </a:r>
            <a:r>
              <a:rPr lang="pl-PL" dirty="0">
                <a:solidFill>
                  <a:srgbClr val="00B0F0"/>
                </a:solidFill>
              </a:rPr>
              <a:t>-</a:t>
            </a:r>
            <a:r>
              <a:rPr lang="pl-PL" dirty="0"/>
              <a:t>” lub „</a:t>
            </a:r>
            <a:r>
              <a:rPr lang="pl-PL" dirty="0">
                <a:solidFill>
                  <a:srgbClr val="00B0F0"/>
                </a:solidFill>
              </a:rPr>
              <a:t>--</a:t>
            </a:r>
            <a:r>
              <a:rPr lang="pl-PL" dirty="0"/>
              <a:t>”, napis „</a:t>
            </a:r>
            <a:r>
              <a:rPr lang="pl-PL" dirty="0">
                <a:solidFill>
                  <a:srgbClr val="00B0F0"/>
                </a:solidFill>
              </a:rPr>
              <a:t>b/d</a:t>
            </a:r>
            <a:r>
              <a:rPr lang="pl-PL" dirty="0"/>
              <a:t>” (brak danych), „</a:t>
            </a:r>
            <a:r>
              <a:rPr lang="pl-PL" dirty="0">
                <a:solidFill>
                  <a:srgbClr val="00B0F0"/>
                </a:solidFill>
              </a:rPr>
              <a:t>n/a</a:t>
            </a:r>
            <a:r>
              <a:rPr lang="pl-PL" dirty="0"/>
              <a:t>” lub „</a:t>
            </a:r>
            <a:r>
              <a:rPr lang="pl-PL" dirty="0">
                <a:solidFill>
                  <a:srgbClr val="00B0F0"/>
                </a:solidFill>
              </a:rPr>
              <a:t>NA</a:t>
            </a:r>
            <a:r>
              <a:rPr lang="pl-PL" dirty="0"/>
              <a:t>” (not </a:t>
            </a:r>
            <a:r>
              <a:rPr lang="pl-PL" dirty="0" err="1"/>
              <a:t>available</a:t>
            </a:r>
            <a:r>
              <a:rPr lang="pl-PL" dirty="0"/>
              <a:t>), „</a:t>
            </a:r>
            <a:r>
              <a:rPr lang="pl-PL" dirty="0" err="1">
                <a:solidFill>
                  <a:srgbClr val="00B0F0"/>
                </a:solidFill>
              </a:rPr>
              <a:t>NaN</a:t>
            </a:r>
            <a:r>
              <a:rPr lang="pl-PL" dirty="0"/>
              <a:t>” (not a </a:t>
            </a:r>
            <a:r>
              <a:rPr lang="pl-PL" dirty="0" err="1"/>
              <a:t>number</a:t>
            </a:r>
            <a:r>
              <a:rPr lang="pl-PL" dirty="0"/>
              <a:t>) lub inne.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Są dwa sposoby na pozbycie się brakujących danych…</a:t>
            </a:r>
          </a:p>
        </p:txBody>
      </p:sp>
    </p:spTree>
    <p:extLst>
      <p:ext uri="{BB962C8B-B14F-4D97-AF65-F5344CB8AC3E}">
        <p14:creationId xmlns:p14="http://schemas.microsoft.com/office/powerpoint/2010/main" val="248236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A020F9-3200-0A4F-67DF-F7FBFD46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45" y="182167"/>
            <a:ext cx="11110793" cy="790956"/>
          </a:xfrm>
        </p:spPr>
        <p:txBody>
          <a:bodyPr/>
          <a:lstStyle/>
          <a:p>
            <a:r>
              <a:rPr lang="pl-PL" sz="4400" dirty="0"/>
              <a:t>Krok II: Usuwanie brakujących danych</a:t>
            </a:r>
            <a:endParaRPr lang="pl-PL" dirty="0"/>
          </a:p>
        </p:txBody>
      </p:sp>
      <p:sp>
        <p:nvSpPr>
          <p:cNvPr id="3" name="Symbol zastępczy tekstu 3">
            <a:extLst>
              <a:ext uri="{FF2B5EF4-FFF2-40B4-BE49-F238E27FC236}">
                <a16:creationId xmlns:a16="http://schemas.microsoft.com/office/drawing/2014/main" id="{455EAEB5-7DBF-F4AD-BFE8-4033A679C1F1}"/>
              </a:ext>
            </a:extLst>
          </p:cNvPr>
          <p:cNvSpPr txBox="1">
            <a:spLocks/>
          </p:cNvSpPr>
          <p:nvPr/>
        </p:nvSpPr>
        <p:spPr>
          <a:xfrm>
            <a:off x="556759" y="1314418"/>
            <a:ext cx="10684489" cy="44997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Char char="–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(</a:t>
            </a:r>
            <a:r>
              <a:rPr lang="pl-PL" dirty="0" err="1">
                <a:solidFill>
                  <a:srgbClr val="00B0F0"/>
                </a:solidFill>
              </a:rPr>
              <a:t>Deletion</a:t>
            </a:r>
            <a:r>
              <a:rPr lang="pl-PL" dirty="0"/>
              <a:t>) Brakujące dane można usunąć wraz z całym wierszem lub kolumną, w których się znajdują. Ma to sens, gdy dany wiersz lub kolumna są w większości puste (i być może też mało ważne). Ale uwaga, zbyt dużo usuwania może spowodować poważne straty informacji. Baza może stać się za mała do dalszych badań.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(</a:t>
            </a:r>
            <a:r>
              <a:rPr lang="pl-PL" dirty="0" err="1">
                <a:solidFill>
                  <a:srgbClr val="00B0F0"/>
                </a:solidFill>
              </a:rPr>
              <a:t>Imputation</a:t>
            </a:r>
            <a:r>
              <a:rPr lang="pl-PL" dirty="0"/>
              <a:t>) Brakujące dane można też zastępować nowymi wygenerowanymi danymi (przypisanie = imputacja). Co prawda są to dane „fałszywe”, ale ratują inne dane przed usunięciem i na ogół nie wpływają bardzo na wydajność algorytmów uczących się ze zbioru.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278155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A020F9-3200-0A4F-67DF-F7FBFD46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45" y="182167"/>
            <a:ext cx="11110793" cy="790956"/>
          </a:xfrm>
        </p:spPr>
        <p:txBody>
          <a:bodyPr/>
          <a:lstStyle/>
          <a:p>
            <a:r>
              <a:rPr lang="pl-PL" sz="4400" dirty="0"/>
              <a:t>Krok II: Usuwanie brakujących danych</a:t>
            </a:r>
            <a:endParaRPr lang="pl-PL" dirty="0"/>
          </a:p>
        </p:txBody>
      </p:sp>
      <p:sp>
        <p:nvSpPr>
          <p:cNvPr id="3" name="Symbol zastępczy tekstu 3">
            <a:extLst>
              <a:ext uri="{FF2B5EF4-FFF2-40B4-BE49-F238E27FC236}">
                <a16:creationId xmlns:a16="http://schemas.microsoft.com/office/drawing/2014/main" id="{455EAEB5-7DBF-F4AD-BFE8-4033A679C1F1}"/>
              </a:ext>
            </a:extLst>
          </p:cNvPr>
          <p:cNvSpPr txBox="1">
            <a:spLocks/>
          </p:cNvSpPr>
          <p:nvPr/>
        </p:nvSpPr>
        <p:spPr>
          <a:xfrm>
            <a:off x="556759" y="973123"/>
            <a:ext cx="10684489" cy="55283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Char char="–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dirty="0"/>
              <a:t>Jakie dane można wstawić w puste komórki bazy danych? Jest wiele technik imputacji, między innymi: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Wstaw w pustą komórkę </a:t>
            </a:r>
            <a:r>
              <a:rPr lang="pl-PL" dirty="0">
                <a:solidFill>
                  <a:srgbClr val="00B0F0"/>
                </a:solidFill>
              </a:rPr>
              <a:t>średnią</a:t>
            </a:r>
            <a:r>
              <a:rPr lang="pl-PL" dirty="0"/>
              <a:t> lub </a:t>
            </a:r>
            <a:r>
              <a:rPr lang="pl-PL" dirty="0">
                <a:solidFill>
                  <a:srgbClr val="00B0F0"/>
                </a:solidFill>
              </a:rPr>
              <a:t>medianę </a:t>
            </a:r>
            <a:r>
              <a:rPr lang="pl-PL" dirty="0"/>
              <a:t>dla danej zmiennej (kolumny). Działa dla kolumn numerycznych. Szybkie, ale dość prymitywne.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Wstaw w pustą komórkę</a:t>
            </a:r>
            <a:r>
              <a:rPr lang="pl-PL" dirty="0">
                <a:solidFill>
                  <a:srgbClr val="00B0F0"/>
                </a:solidFill>
              </a:rPr>
              <a:t> dominantę </a:t>
            </a:r>
            <a:r>
              <a:rPr lang="pl-PL" dirty="0"/>
              <a:t>(wartość najczęstszą) dla danej kolumny. Dobre dla kolumn z wartościami kategorycznym. Szybkie i prymitywne.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Wstaw w pustą komórkę </a:t>
            </a:r>
            <a:r>
              <a:rPr lang="pl-PL" dirty="0">
                <a:solidFill>
                  <a:srgbClr val="00B0F0"/>
                </a:solidFill>
              </a:rPr>
              <a:t>średnią</a:t>
            </a:r>
            <a:r>
              <a:rPr lang="pl-PL" dirty="0"/>
              <a:t>/</a:t>
            </a:r>
            <a:r>
              <a:rPr lang="pl-PL" dirty="0">
                <a:solidFill>
                  <a:srgbClr val="00B0F0"/>
                </a:solidFill>
              </a:rPr>
              <a:t>medianę</a:t>
            </a:r>
            <a:r>
              <a:rPr lang="pl-PL" dirty="0"/>
              <a:t>/</a:t>
            </a:r>
            <a:r>
              <a:rPr lang="pl-PL" dirty="0">
                <a:solidFill>
                  <a:srgbClr val="00B0F0"/>
                </a:solidFill>
              </a:rPr>
              <a:t>dominantę</a:t>
            </a:r>
            <a:r>
              <a:rPr lang="pl-PL" dirty="0"/>
              <a:t> dla danej zmiennej (kolumny), ale uwzględniając tylko próbki/wiersze z tą samą klasą, co edytowany wiersz. Trochę mądrzejsze, bo zwraca uwagę na inne dane.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Wstaw w pustą komórkę taką wartość, jaką wyznacza </a:t>
            </a:r>
            <a:r>
              <a:rPr lang="pl-PL" dirty="0">
                <a:solidFill>
                  <a:srgbClr val="00B0F0"/>
                </a:solidFill>
              </a:rPr>
              <a:t>k najbliższych sąsiadów </a:t>
            </a:r>
            <a:r>
              <a:rPr lang="pl-PL" dirty="0"/>
              <a:t>badanego rekordu (odległości po reszcie kolumn). Dość mądra technika, bo analizuje inne kolumny. Przez to niestety wolna.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Inne zaawansowane techniki: alg. uczące, </a:t>
            </a:r>
            <a:r>
              <a:rPr lang="pl-PL" dirty="0" err="1"/>
              <a:t>deep</a:t>
            </a:r>
            <a:r>
              <a:rPr lang="pl-PL" dirty="0"/>
              <a:t> learning, interpolacja.</a:t>
            </a:r>
          </a:p>
          <a:p>
            <a:pPr marL="0" indent="0">
              <a:buNone/>
            </a:pP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577307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A020F9-3200-0A4F-67DF-F7FBFD46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45" y="182167"/>
            <a:ext cx="11110793" cy="790956"/>
          </a:xfrm>
        </p:spPr>
        <p:txBody>
          <a:bodyPr/>
          <a:lstStyle/>
          <a:p>
            <a:r>
              <a:rPr lang="pl-PL" sz="4400" dirty="0"/>
              <a:t>Krok II: Usuwanie brakujących danych</a:t>
            </a:r>
            <a:endParaRPr lang="pl-PL" dirty="0"/>
          </a:p>
        </p:txBody>
      </p:sp>
      <p:sp>
        <p:nvSpPr>
          <p:cNvPr id="3" name="Symbol zastępczy tekstu 3">
            <a:extLst>
              <a:ext uri="{FF2B5EF4-FFF2-40B4-BE49-F238E27FC236}">
                <a16:creationId xmlns:a16="http://schemas.microsoft.com/office/drawing/2014/main" id="{455EAEB5-7DBF-F4AD-BFE8-4033A679C1F1}"/>
              </a:ext>
            </a:extLst>
          </p:cNvPr>
          <p:cNvSpPr txBox="1">
            <a:spLocks/>
          </p:cNvSpPr>
          <p:nvPr/>
        </p:nvSpPr>
        <p:spPr>
          <a:xfrm>
            <a:off x="556759" y="973123"/>
            <a:ext cx="10684489" cy="55283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Char char="–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dirty="0"/>
              <a:t>Przydatne linki: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hlinkClick r:id="rId2"/>
              </a:rPr>
              <a:t>https://towardsdatascience.com/6-different-ways-to-compensate-for-missing-values-data-imputation-with-examples-6022d9ca0779</a:t>
            </a:r>
            <a:r>
              <a:rPr lang="pl-PL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hlinkClick r:id="rId3"/>
              </a:rPr>
              <a:t>https://realpython.com/python-data-cleaning-numpy-pandas/</a:t>
            </a: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hlinkClick r:id="rId4"/>
              </a:rPr>
              <a:t>https://towardsdatascience.com/data-cleaning-with-python-and-pandas-detecting-missing-values-3e9c6ebcf78b</a:t>
            </a: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hlinkClick r:id="rId5"/>
              </a:rPr>
              <a:t>https://www.freecodecamp.org/news/how-to-handle-missing-data-in-a-dataset/</a:t>
            </a:r>
            <a:r>
              <a:rPr lang="pl-PL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24735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A020F9-3200-0A4F-67DF-F7FBFD46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568" y="1708962"/>
            <a:ext cx="9748007" cy="3047595"/>
          </a:xfrm>
        </p:spPr>
        <p:txBody>
          <a:bodyPr>
            <a:normAutofit/>
          </a:bodyPr>
          <a:lstStyle/>
          <a:p>
            <a:r>
              <a:rPr lang="pl-PL" sz="3200" dirty="0">
                <a:solidFill>
                  <a:schemeClr val="bg1">
                    <a:lumMod val="75000"/>
                  </a:schemeClr>
                </a:solidFill>
              </a:rPr>
              <a:t>Krok I: Usuwanie błędnych danych</a:t>
            </a:r>
            <a:br>
              <a:rPr lang="pl-PL" sz="3200" dirty="0"/>
            </a:br>
            <a:r>
              <a:rPr lang="pl-PL" sz="1100" dirty="0"/>
              <a:t> </a:t>
            </a:r>
            <a:br>
              <a:rPr lang="pl-PL" sz="3200" dirty="0"/>
            </a:br>
            <a:r>
              <a:rPr lang="pl-PL" sz="3200" dirty="0">
                <a:solidFill>
                  <a:schemeClr val="bg1">
                    <a:lumMod val="75000"/>
                  </a:schemeClr>
                </a:solidFill>
              </a:rPr>
              <a:t>Krok II: Usuwanie brakujących danych</a:t>
            </a:r>
            <a:br>
              <a:rPr lang="pl-PL" sz="32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pl-PL" sz="1100" dirty="0">
                <a:solidFill>
                  <a:schemeClr val="bg1">
                    <a:lumMod val="75000"/>
                  </a:schemeClr>
                </a:solidFill>
              </a:rPr>
              <a:t> </a:t>
            </a:r>
            <a:br>
              <a:rPr lang="pl-PL" sz="32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pl-PL" sz="3200" dirty="0"/>
              <a:t>Krok III:  Optymalizowanie struktury zbioru danych</a:t>
            </a:r>
            <a:br>
              <a:rPr lang="pl-PL" sz="32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pl-PL" sz="1100" dirty="0">
                <a:solidFill>
                  <a:schemeClr val="bg1">
                    <a:lumMod val="75000"/>
                  </a:schemeClr>
                </a:solidFill>
              </a:rPr>
              <a:t> </a:t>
            </a:r>
            <a:br>
              <a:rPr lang="pl-PL" sz="32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pl-PL" sz="3200" dirty="0">
                <a:solidFill>
                  <a:schemeClr val="bg1">
                    <a:lumMod val="75000"/>
                  </a:schemeClr>
                </a:solidFill>
              </a:rPr>
              <a:t>Krok IV:  Normalizacja danych</a:t>
            </a:r>
          </a:p>
        </p:txBody>
      </p:sp>
    </p:spTree>
    <p:extLst>
      <p:ext uri="{BB962C8B-B14F-4D97-AF65-F5344CB8AC3E}">
        <p14:creationId xmlns:p14="http://schemas.microsoft.com/office/powerpoint/2010/main" val="39540790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A020F9-3200-0A4F-67DF-F7FBFD46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45" y="182167"/>
            <a:ext cx="11110793" cy="790956"/>
          </a:xfrm>
        </p:spPr>
        <p:txBody>
          <a:bodyPr/>
          <a:lstStyle/>
          <a:p>
            <a:r>
              <a:rPr lang="pl-PL" sz="4400" dirty="0"/>
              <a:t>Krok III: Optymalizowanie struktury </a:t>
            </a:r>
            <a:r>
              <a:rPr lang="pl-PL" sz="4400" dirty="0" err="1"/>
              <a:t>datasetu</a:t>
            </a:r>
            <a:endParaRPr lang="pl-PL" dirty="0"/>
          </a:p>
        </p:txBody>
      </p:sp>
      <p:sp>
        <p:nvSpPr>
          <p:cNvPr id="3" name="Symbol zastępczy tekstu 3">
            <a:extLst>
              <a:ext uri="{FF2B5EF4-FFF2-40B4-BE49-F238E27FC236}">
                <a16:creationId xmlns:a16="http://schemas.microsoft.com/office/drawing/2014/main" id="{455EAEB5-7DBF-F4AD-BFE8-4033A679C1F1}"/>
              </a:ext>
            </a:extLst>
          </p:cNvPr>
          <p:cNvSpPr txBox="1">
            <a:spLocks/>
          </p:cNvSpPr>
          <p:nvPr/>
        </p:nvSpPr>
        <p:spPr>
          <a:xfrm>
            <a:off x="556759" y="973123"/>
            <a:ext cx="10684489" cy="55283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Char char="–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Struktura </a:t>
            </a:r>
            <a:r>
              <a:rPr lang="pl-PL" dirty="0" err="1"/>
              <a:t>datasetu</a:t>
            </a:r>
            <a:r>
              <a:rPr lang="pl-PL" dirty="0"/>
              <a:t> może nie być wygodna do uczenia maszynowego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 </a:t>
            </a:r>
            <a:r>
              <a:rPr lang="pl-PL" dirty="0">
                <a:solidFill>
                  <a:srgbClr val="00B0F0"/>
                </a:solidFill>
              </a:rPr>
              <a:t>Niezrównoważony zbiór danych </a:t>
            </a:r>
            <a:r>
              <a:rPr lang="pl-PL" dirty="0"/>
              <a:t>(</a:t>
            </a:r>
            <a:r>
              <a:rPr lang="pl-PL" dirty="0" err="1">
                <a:solidFill>
                  <a:srgbClr val="00B0F0"/>
                </a:solidFill>
              </a:rPr>
              <a:t>imbalanced</a:t>
            </a:r>
            <a:r>
              <a:rPr lang="pl-PL" dirty="0">
                <a:solidFill>
                  <a:srgbClr val="00B0F0"/>
                </a:solidFill>
              </a:rPr>
              <a:t> data</a:t>
            </a:r>
            <a:r>
              <a:rPr lang="pl-PL" dirty="0"/>
              <a:t>) to dość częsty problem, w którym liczba próbek zmiennej z jedną wartością może być znacznie większa niż liczba próbek z drugą wartością. Z powodu tego niezrównoważenia podczas uczenia model algorytmu może w ogóle nie uczyć się danych rzadko występujących w bazie danych. Jest to szczególnie niebezpieczne gdy niezbalansowana jest kolumna z klasą.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Być może widać było to przy okazji </a:t>
            </a:r>
            <a:r>
              <a:rPr lang="pl-PL" dirty="0">
                <a:solidFill>
                  <a:srgbClr val="00B0F0"/>
                </a:solidFill>
              </a:rPr>
              <a:t>diabetes.csv </a:t>
            </a:r>
            <a:r>
              <a:rPr lang="pl-PL" dirty="0"/>
              <a:t>na poprzednich laboratoriach. Liczba osób chorych jest znacznie mniejsza niż liczba osób zdrowych. Ciężko nauczyć się rozpoznawać chore osoby.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</p:txBody>
      </p:sp>
      <p:pic>
        <p:nvPicPr>
          <p:cNvPr id="1026" name="Picture 2" descr="What Is Balanced And Imbalanced Dataset? | by Himanshu Tripathi | Analytics  Vidhya | Medium">
            <a:extLst>
              <a:ext uri="{FF2B5EF4-FFF2-40B4-BE49-F238E27FC236}">
                <a16:creationId xmlns:a16="http://schemas.microsoft.com/office/drawing/2014/main" id="{2B1FB128-4B86-6960-D4F3-549A4DC52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5725" y="5005995"/>
            <a:ext cx="3713584" cy="1757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42085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A020F9-3200-0A4F-67DF-F7FBFD46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45" y="182167"/>
            <a:ext cx="11110793" cy="790956"/>
          </a:xfrm>
        </p:spPr>
        <p:txBody>
          <a:bodyPr/>
          <a:lstStyle/>
          <a:p>
            <a:r>
              <a:rPr lang="pl-PL" sz="4400" dirty="0"/>
              <a:t>Krok III: Optymalizowanie struktury </a:t>
            </a:r>
            <a:r>
              <a:rPr lang="pl-PL" sz="4400" dirty="0" err="1"/>
              <a:t>datasetu</a:t>
            </a:r>
            <a:endParaRPr lang="pl-PL" dirty="0"/>
          </a:p>
        </p:txBody>
      </p:sp>
      <p:sp>
        <p:nvSpPr>
          <p:cNvPr id="3" name="Symbol zastępczy tekstu 3">
            <a:extLst>
              <a:ext uri="{FF2B5EF4-FFF2-40B4-BE49-F238E27FC236}">
                <a16:creationId xmlns:a16="http://schemas.microsoft.com/office/drawing/2014/main" id="{455EAEB5-7DBF-F4AD-BFE8-4033A679C1F1}"/>
              </a:ext>
            </a:extLst>
          </p:cNvPr>
          <p:cNvSpPr txBox="1">
            <a:spLocks/>
          </p:cNvSpPr>
          <p:nvPr/>
        </p:nvSpPr>
        <p:spPr>
          <a:xfrm>
            <a:off x="556759" y="973123"/>
            <a:ext cx="10684489" cy="55283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Char char="–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Jak uczyć na niezbalansowanym zbiorze danych?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Jeśli dysproporcje pomiędzy wartościami klas są znaczne np. 1:10, 1:100 czy 1:1000, to warto je zbalansować. Przy łagodnym niezrównoważeniu np. 1:2, 2:3 nie warto tego robić.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Najłatwiejszą techniką jest wyrównywanie liczebności obu wartości poprzez: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l-PL" dirty="0"/>
              <a:t>usuwanie nadmiarowych próbek z klasy bardziej licznej (tzw. </a:t>
            </a:r>
            <a:r>
              <a:rPr lang="pl-PL" dirty="0" err="1">
                <a:solidFill>
                  <a:srgbClr val="00B0F0"/>
                </a:solidFill>
              </a:rPr>
              <a:t>under-sampling</a:t>
            </a:r>
            <a:r>
              <a:rPr lang="pl-PL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l-PL" dirty="0"/>
              <a:t>dodawanie kopii próbek z klasy mniej licznej (tzw. </a:t>
            </a:r>
            <a:r>
              <a:rPr lang="pl-PL" dirty="0" err="1">
                <a:solidFill>
                  <a:srgbClr val="00B0F0"/>
                </a:solidFill>
              </a:rPr>
              <a:t>over-sampling</a:t>
            </a:r>
            <a:r>
              <a:rPr lang="pl-PL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Inną techniką jest generowanie syntetycznych próbek. Można spróbować do tego wykorzystać dedykowany algorytm np. </a:t>
            </a:r>
            <a:r>
              <a:rPr lang="pl-PL" dirty="0">
                <a:solidFill>
                  <a:srgbClr val="00B0F0"/>
                </a:solidFill>
              </a:rPr>
              <a:t>SMOTE</a:t>
            </a:r>
            <a:r>
              <a:rPr lang="pl-PL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Dodatkowe info: </a:t>
            </a:r>
            <a:r>
              <a:rPr lang="pl-PL" dirty="0">
                <a:hlinkClick r:id="rId2"/>
              </a:rPr>
              <a:t>https://machinelearningmastery.com/tactics-to-combat-imbalanced-classes-in-your-machine-learning-dataset/</a:t>
            </a:r>
            <a:r>
              <a:rPr lang="pl-PL" dirty="0"/>
              <a:t> , </a:t>
            </a:r>
            <a:r>
              <a:rPr lang="pl-PL" dirty="0">
                <a:hlinkClick r:id="rId3"/>
              </a:rPr>
              <a:t>https://elitedatascience.com/imbalanced-classes</a:t>
            </a:r>
            <a:r>
              <a:rPr lang="pl-PL" dirty="0"/>
              <a:t> , </a:t>
            </a:r>
            <a:r>
              <a:rPr lang="pl-PL" dirty="0">
                <a:hlinkClick r:id="rId4"/>
              </a:rPr>
              <a:t>https://www.analyticsvidhya.com/blog/2022/05/handling-imbalanced-data-with-imbalance-learn-in-python/</a:t>
            </a:r>
            <a:r>
              <a:rPr lang="pl-P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71223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A020F9-3200-0A4F-67DF-F7FBFD46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45" y="182167"/>
            <a:ext cx="11110793" cy="790956"/>
          </a:xfrm>
        </p:spPr>
        <p:txBody>
          <a:bodyPr/>
          <a:lstStyle/>
          <a:p>
            <a:r>
              <a:rPr lang="pl-PL" sz="4400" dirty="0"/>
              <a:t>Krok III: Optymalizowanie struktury </a:t>
            </a:r>
            <a:r>
              <a:rPr lang="pl-PL" sz="4400" dirty="0" err="1"/>
              <a:t>datasetu</a:t>
            </a:r>
            <a:endParaRPr lang="pl-PL" dirty="0"/>
          </a:p>
        </p:txBody>
      </p:sp>
      <p:sp>
        <p:nvSpPr>
          <p:cNvPr id="3" name="Symbol zastępczy tekstu 3">
            <a:extLst>
              <a:ext uri="{FF2B5EF4-FFF2-40B4-BE49-F238E27FC236}">
                <a16:creationId xmlns:a16="http://schemas.microsoft.com/office/drawing/2014/main" id="{455EAEB5-7DBF-F4AD-BFE8-4033A679C1F1}"/>
              </a:ext>
            </a:extLst>
          </p:cNvPr>
          <p:cNvSpPr txBox="1">
            <a:spLocks/>
          </p:cNvSpPr>
          <p:nvPr/>
        </p:nvSpPr>
        <p:spPr>
          <a:xfrm>
            <a:off x="556759" y="973123"/>
            <a:ext cx="10684489" cy="552834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Char char="–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Kolejnym problemem z </a:t>
            </a:r>
            <a:r>
              <a:rPr lang="pl-PL" err="1"/>
              <a:t>datasetem</a:t>
            </a:r>
            <a:r>
              <a:rPr lang="pl-PL" dirty="0"/>
              <a:t> może być jego </a:t>
            </a:r>
            <a:r>
              <a:rPr lang="pl-PL" dirty="0">
                <a:solidFill>
                  <a:srgbClr val="00B0F0"/>
                </a:solidFill>
              </a:rPr>
              <a:t>rozmiar</a:t>
            </a:r>
            <a:r>
              <a:rPr lang="pl-PL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Bywa, że baza danych ma mnóstwo kolumn i przetwarzanie jej na maszynie jest bardzo wolne.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Co jeszcze gorsze, bywa, że kolumny mają bardzo </a:t>
            </a:r>
            <a:r>
              <a:rPr lang="pl-PL" dirty="0">
                <a:solidFill>
                  <a:srgbClr val="00B0F0"/>
                </a:solidFill>
              </a:rPr>
              <a:t>rozproszone dane </a:t>
            </a:r>
            <a:r>
              <a:rPr lang="pl-PL" dirty="0"/>
              <a:t>(ang. </a:t>
            </a:r>
            <a:r>
              <a:rPr lang="pl-PL" err="1">
                <a:solidFill>
                  <a:srgbClr val="00B0F0"/>
                </a:solidFill>
              </a:rPr>
              <a:t>sparse</a:t>
            </a:r>
            <a:r>
              <a:rPr lang="pl-PL" dirty="0">
                <a:solidFill>
                  <a:srgbClr val="00B0F0"/>
                </a:solidFill>
              </a:rPr>
              <a:t> data</a:t>
            </a:r>
            <a:r>
              <a:rPr lang="pl-PL" dirty="0"/>
              <a:t>) np. bardzo dużo nic nieznaczących zer i niewiele ważnych </a:t>
            </a:r>
            <a:r>
              <a:rPr lang="pl-PL"/>
              <a:t>jedynek. Jak temu zaradzić?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1800" dirty="0">
                <a:hlinkClick r:id="rId2"/>
              </a:rPr>
              <a:t>https://www.kdnuggets.com/2023/04/best-machine-learning-model-sparse-data.html</a:t>
            </a:r>
            <a:endParaRPr lang="pl-PL" sz="1800" dirty="0"/>
          </a:p>
          <a:p>
            <a:pPr marL="0" indent="0">
              <a:buNone/>
            </a:pPr>
            <a:endParaRPr lang="pl-PL" dirty="0"/>
          </a:p>
        </p:txBody>
      </p:sp>
      <p:pic>
        <p:nvPicPr>
          <p:cNvPr id="2054" name="Picture 6" descr="Dealing with Sparse Datasets in Machine Learning -">
            <a:extLst>
              <a:ext uri="{FF2B5EF4-FFF2-40B4-BE49-F238E27FC236}">
                <a16:creationId xmlns:a16="http://schemas.microsoft.com/office/drawing/2014/main" id="{FCA0024B-F033-7EE9-5918-D904AF114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228" y="4044018"/>
            <a:ext cx="9353550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56828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A020F9-3200-0A4F-67DF-F7FBFD46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45" y="182167"/>
            <a:ext cx="11110793" cy="790956"/>
          </a:xfrm>
        </p:spPr>
        <p:txBody>
          <a:bodyPr/>
          <a:lstStyle/>
          <a:p>
            <a:r>
              <a:rPr lang="pl-PL" sz="4400" dirty="0"/>
              <a:t>Krok III: Optymalizowanie struktury </a:t>
            </a:r>
            <a:r>
              <a:rPr lang="pl-PL" sz="4400" dirty="0" err="1"/>
              <a:t>datasetu</a:t>
            </a:r>
            <a:endParaRPr lang="pl-PL" dirty="0"/>
          </a:p>
        </p:txBody>
      </p:sp>
      <p:sp>
        <p:nvSpPr>
          <p:cNvPr id="3" name="Symbol zastępczy tekstu 3">
            <a:extLst>
              <a:ext uri="{FF2B5EF4-FFF2-40B4-BE49-F238E27FC236}">
                <a16:creationId xmlns:a16="http://schemas.microsoft.com/office/drawing/2014/main" id="{455EAEB5-7DBF-F4AD-BFE8-4033A679C1F1}"/>
              </a:ext>
            </a:extLst>
          </p:cNvPr>
          <p:cNvSpPr txBox="1">
            <a:spLocks/>
          </p:cNvSpPr>
          <p:nvPr/>
        </p:nvSpPr>
        <p:spPr>
          <a:xfrm>
            <a:off x="556760" y="973123"/>
            <a:ext cx="7280370" cy="58195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Char char="–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pl-PL" sz="2200" dirty="0"/>
              <a:t>Jeśli kolumna ma bardzo mało danych można ją usunąć.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200" dirty="0"/>
              <a:t>Inną techniką jest kompresja informacji w kolumnach za pomocą algorytmu </a:t>
            </a:r>
            <a:r>
              <a:rPr lang="pl-PL" sz="2200" dirty="0">
                <a:solidFill>
                  <a:srgbClr val="00B0F0"/>
                </a:solidFill>
              </a:rPr>
              <a:t>PCA</a:t>
            </a:r>
            <a:r>
              <a:rPr lang="pl-PL" sz="2200" dirty="0"/>
              <a:t> (</a:t>
            </a:r>
            <a:r>
              <a:rPr lang="pl-PL" sz="2200" dirty="0">
                <a:solidFill>
                  <a:srgbClr val="00B0F0"/>
                </a:solidFill>
              </a:rPr>
              <a:t>principal component </a:t>
            </a:r>
            <a:r>
              <a:rPr lang="pl-PL" sz="2200" dirty="0" err="1">
                <a:solidFill>
                  <a:srgbClr val="00B0F0"/>
                </a:solidFill>
              </a:rPr>
              <a:t>analysis</a:t>
            </a:r>
            <a:r>
              <a:rPr lang="pl-PL" sz="2200" dirty="0"/>
              <a:t>, </a:t>
            </a:r>
            <a:r>
              <a:rPr lang="pl-PL" sz="2200" dirty="0">
                <a:solidFill>
                  <a:srgbClr val="00B0F0"/>
                </a:solidFill>
              </a:rPr>
              <a:t>analiza głównych składowych</a:t>
            </a:r>
            <a:r>
              <a:rPr lang="pl-PL" sz="22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200" dirty="0"/>
              <a:t>Algorytm ten, za pomocą sprytnych technik statystyczno-algebraicznych, kondensuje informacje z bazy danych w nowo utworzonych zmiennych/kolumnach. Najpierw „upycha” jak najwięcej informacji w pierwszej nowej kolumnie. To co się nie udało, upycha do drugiej, resztki do trzeciej i tak dalej. W konsekwencji, pierwsze kolumny zawierają najwięcej informacji, a ostatnie najmniej. Ostatnie kolumny można usunąć z bazy danych bez dużej straty informacji.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1600" dirty="0"/>
              <a:t>Linki: </a:t>
            </a:r>
            <a:r>
              <a:rPr lang="pl-PL" sz="1600" dirty="0">
                <a:hlinkClick r:id="rId2"/>
              </a:rPr>
              <a:t>https://marcioodwyer.wordpress.com/2019/01/09/principal-component-analysis-a-toy-example/</a:t>
            </a:r>
            <a:r>
              <a:rPr lang="pl-PL" sz="1600" dirty="0"/>
              <a:t> , </a:t>
            </a:r>
            <a:r>
              <a:rPr lang="pl-PL" sz="1600" dirty="0">
                <a:hlinkClick r:id="rId3"/>
              </a:rPr>
              <a:t>https://www.kaggle.com/code/shrutimechlearn/step-by-step-pca-with-iris-dataset</a:t>
            </a:r>
            <a:r>
              <a:rPr lang="pl-PL" sz="1600" dirty="0"/>
              <a:t> </a:t>
            </a:r>
          </a:p>
        </p:txBody>
      </p:sp>
      <p:pic>
        <p:nvPicPr>
          <p:cNvPr id="3074" name="Picture 2" descr="Principal Component Analysis with a Toy Example – Marcio O'Dwyer">
            <a:extLst>
              <a:ext uri="{FF2B5EF4-FFF2-40B4-BE49-F238E27FC236}">
                <a16:creationId xmlns:a16="http://schemas.microsoft.com/office/drawing/2014/main" id="{DABBB12C-3F3C-EB30-404F-D5CE3D255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130" y="1848240"/>
            <a:ext cx="4038600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87806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1BFB754-1F9D-DEDA-272A-5AA2F4930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DBC713E-9828-2CD2-0607-B5CDB49A9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45" y="182167"/>
            <a:ext cx="11110793" cy="790956"/>
          </a:xfrm>
        </p:spPr>
        <p:txBody>
          <a:bodyPr/>
          <a:lstStyle/>
          <a:p>
            <a:r>
              <a:rPr lang="pl-PL" sz="4400" dirty="0"/>
              <a:t>Krok III: Optymalizowanie struktury </a:t>
            </a:r>
            <a:r>
              <a:rPr lang="pl-PL" sz="4400" dirty="0" err="1"/>
              <a:t>datasetu</a:t>
            </a:r>
            <a:endParaRPr lang="pl-PL" dirty="0"/>
          </a:p>
        </p:txBody>
      </p:sp>
      <p:sp>
        <p:nvSpPr>
          <p:cNvPr id="3" name="Symbol zastępczy tekstu 3">
            <a:extLst>
              <a:ext uri="{FF2B5EF4-FFF2-40B4-BE49-F238E27FC236}">
                <a16:creationId xmlns:a16="http://schemas.microsoft.com/office/drawing/2014/main" id="{A76696C0-CFC0-F623-EF53-1B8C16B58557}"/>
              </a:ext>
            </a:extLst>
          </p:cNvPr>
          <p:cNvSpPr txBox="1">
            <a:spLocks/>
          </p:cNvSpPr>
          <p:nvPr/>
        </p:nvSpPr>
        <p:spPr>
          <a:xfrm>
            <a:off x="864671" y="1110343"/>
            <a:ext cx="10843878" cy="54024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Char char="–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sz="2200" dirty="0"/>
              <a:t>Bardzo fajny film wyjaśniający PCA: </a:t>
            </a:r>
          </a:p>
          <a:p>
            <a:pPr marL="0" indent="0">
              <a:buNone/>
            </a:pPr>
            <a:r>
              <a:rPr lang="pl-PL" sz="2000" dirty="0">
                <a:hlinkClick r:id="rId2"/>
              </a:rPr>
              <a:t>https://www.youtube.com/watch?v=FgakZw6K1QQ&amp;ab_channel=StatQuestwithJoshStarmer</a:t>
            </a:r>
            <a:r>
              <a:rPr lang="pl-PL" sz="2000" dirty="0"/>
              <a:t> </a:t>
            </a:r>
          </a:p>
        </p:txBody>
      </p:sp>
      <p:pic>
        <p:nvPicPr>
          <p:cNvPr id="5" name="Picture 4" descr="A diagram of gene and gene&#10;&#10;Description automatically generated">
            <a:extLst>
              <a:ext uri="{FF2B5EF4-FFF2-40B4-BE49-F238E27FC236}">
                <a16:creationId xmlns:a16="http://schemas.microsoft.com/office/drawing/2014/main" id="{FCAE05DE-4F46-CCC8-3DA0-42E171E0B4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5" y="2039116"/>
            <a:ext cx="7387257" cy="399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5617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A020F9-3200-0A4F-67DF-F7FBFD46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45" y="182167"/>
            <a:ext cx="11110793" cy="790956"/>
          </a:xfrm>
        </p:spPr>
        <p:txBody>
          <a:bodyPr/>
          <a:lstStyle/>
          <a:p>
            <a:r>
              <a:rPr lang="pl-PL" sz="4400" dirty="0"/>
              <a:t>Krok III: Optymalizowanie struktury </a:t>
            </a:r>
            <a:r>
              <a:rPr lang="pl-PL" sz="4400" dirty="0" err="1"/>
              <a:t>datasetu</a:t>
            </a:r>
            <a:endParaRPr lang="pl-PL" dirty="0"/>
          </a:p>
        </p:txBody>
      </p:sp>
      <p:sp>
        <p:nvSpPr>
          <p:cNvPr id="3" name="Symbol zastępczy tekstu 3">
            <a:extLst>
              <a:ext uri="{FF2B5EF4-FFF2-40B4-BE49-F238E27FC236}">
                <a16:creationId xmlns:a16="http://schemas.microsoft.com/office/drawing/2014/main" id="{455EAEB5-7DBF-F4AD-BFE8-4033A679C1F1}"/>
              </a:ext>
            </a:extLst>
          </p:cNvPr>
          <p:cNvSpPr txBox="1">
            <a:spLocks/>
          </p:cNvSpPr>
          <p:nvPr/>
        </p:nvSpPr>
        <p:spPr>
          <a:xfrm>
            <a:off x="556760" y="973123"/>
            <a:ext cx="7280370" cy="58195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Char char="–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l-PL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l-PL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l-PL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datasets</a:t>
            </a:r>
            <a:endParaRPr lang="pl-PL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l-PL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l-PL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pl-PL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l-PL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decomposition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l-PL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l-PL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PCA</a:t>
            </a:r>
            <a:endParaRPr lang="pl-PL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l-PL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l-PL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pandas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l-PL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l-PL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endParaRPr lang="pl-PL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pl-PL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iris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l-PL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datasets</a:t>
            </a:r>
            <a:r>
              <a:rPr lang="pl-PL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l-PL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load_iris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pl-PL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l-PL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pl-PL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l-PL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l-PL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iris</a:t>
            </a:r>
            <a:r>
              <a:rPr lang="pl-PL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.data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l-PL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l-PL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iris</a:t>
            </a:r>
            <a:r>
              <a:rPr lang="pl-PL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.feature_names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pl-PL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l-PL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pl-PL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l-PL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Series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l-PL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iris</a:t>
            </a:r>
            <a:r>
              <a:rPr lang="pl-PL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.target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l-PL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l-PL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l-PL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FlowerType</a:t>
            </a:r>
            <a:r>
              <a:rPr lang="pl-PL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pl-PL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l-PL" sz="16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pl-PL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l-PL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 marL="0" indent="0">
              <a:buNone/>
            </a:pPr>
            <a:b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pl-PL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pca_iris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l-PL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PCA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l-PL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n_components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l-PL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pl-PL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fit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l-PL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iris</a:t>
            </a:r>
            <a:r>
              <a:rPr lang="pl-PL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.data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pl-PL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l-PL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pca_iris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pl-PL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l-PL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pca_iris</a:t>
            </a:r>
            <a:r>
              <a:rPr lang="pl-PL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l-PL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explained_variance_ratio</a:t>
            </a:r>
            <a:r>
              <a:rPr lang="pl-PL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pl-PL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l-PL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pca_iris</a:t>
            </a:r>
            <a:r>
              <a:rPr lang="pl-PL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l-PL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components</a:t>
            </a:r>
            <a:r>
              <a:rPr lang="pl-PL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pl-PL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l-PL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pca_iris</a:t>
            </a:r>
            <a:r>
              <a:rPr lang="pl-PL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l-PL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l-PL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iris</a:t>
            </a:r>
            <a:r>
              <a:rPr lang="pl-PL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.data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endParaRPr lang="pl-PL" sz="1600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22482CF0-65A7-176A-AD12-1E100B0A5F29}"/>
              </a:ext>
            </a:extLst>
          </p:cNvPr>
          <p:cNvSpPr txBox="1"/>
          <p:nvPr/>
        </p:nvSpPr>
        <p:spPr>
          <a:xfrm>
            <a:off x="7492482" y="1764080"/>
            <a:ext cx="27245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Uruchomimy i przeanalizujemy fragment kodu po lewej.</a:t>
            </a:r>
          </a:p>
        </p:txBody>
      </p:sp>
    </p:spTree>
    <p:extLst>
      <p:ext uri="{BB962C8B-B14F-4D97-AF65-F5344CB8AC3E}">
        <p14:creationId xmlns:p14="http://schemas.microsoft.com/office/powerpoint/2010/main" val="33308820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A020F9-3200-0A4F-67DF-F7FBFD46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568" y="1708962"/>
            <a:ext cx="9748007" cy="3047595"/>
          </a:xfrm>
        </p:spPr>
        <p:txBody>
          <a:bodyPr>
            <a:normAutofit/>
          </a:bodyPr>
          <a:lstStyle/>
          <a:p>
            <a:r>
              <a:rPr lang="pl-PL" sz="3200" dirty="0">
                <a:solidFill>
                  <a:schemeClr val="bg1">
                    <a:lumMod val="75000"/>
                  </a:schemeClr>
                </a:solidFill>
              </a:rPr>
              <a:t>Krok I: Usuwanie błędnych danych</a:t>
            </a:r>
            <a:br>
              <a:rPr lang="pl-PL" sz="3200" dirty="0"/>
            </a:br>
            <a:r>
              <a:rPr lang="pl-PL" sz="1100" dirty="0"/>
              <a:t> </a:t>
            </a:r>
            <a:br>
              <a:rPr lang="pl-PL" sz="3200" dirty="0"/>
            </a:br>
            <a:r>
              <a:rPr lang="pl-PL" sz="3200" dirty="0">
                <a:solidFill>
                  <a:schemeClr val="bg1">
                    <a:lumMod val="75000"/>
                  </a:schemeClr>
                </a:solidFill>
              </a:rPr>
              <a:t>Krok II: Usuwanie brakujących danych</a:t>
            </a:r>
            <a:br>
              <a:rPr lang="pl-PL" sz="32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pl-PL" sz="1100" dirty="0">
                <a:solidFill>
                  <a:schemeClr val="bg1">
                    <a:lumMod val="75000"/>
                  </a:schemeClr>
                </a:solidFill>
              </a:rPr>
              <a:t> </a:t>
            </a:r>
            <a:br>
              <a:rPr lang="pl-PL" sz="32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pl-PL" sz="3200" dirty="0">
                <a:solidFill>
                  <a:schemeClr val="bg1">
                    <a:lumMod val="75000"/>
                  </a:schemeClr>
                </a:solidFill>
              </a:rPr>
              <a:t>Krok III:  Optymalizowanie struktury zbioru danych</a:t>
            </a:r>
            <a:br>
              <a:rPr lang="pl-PL" sz="32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pl-PL" sz="1100" dirty="0">
                <a:solidFill>
                  <a:schemeClr val="bg1">
                    <a:lumMod val="75000"/>
                  </a:schemeClr>
                </a:solidFill>
              </a:rPr>
              <a:t> </a:t>
            </a:r>
            <a:br>
              <a:rPr lang="pl-PL" sz="32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pl-PL" sz="3200" dirty="0"/>
              <a:t>Krok IV:  Normalizacja danych</a:t>
            </a:r>
          </a:p>
        </p:txBody>
      </p:sp>
    </p:spTree>
    <p:extLst>
      <p:ext uri="{BB962C8B-B14F-4D97-AF65-F5344CB8AC3E}">
        <p14:creationId xmlns:p14="http://schemas.microsoft.com/office/powerpoint/2010/main" val="35539395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A020F9-3200-0A4F-67DF-F7FBFD46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45" y="182167"/>
            <a:ext cx="11110793" cy="790956"/>
          </a:xfrm>
        </p:spPr>
        <p:txBody>
          <a:bodyPr/>
          <a:lstStyle/>
          <a:p>
            <a:r>
              <a:rPr lang="pl-PL" sz="4400" dirty="0"/>
              <a:t>Krok IV: Normalizacja danych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tekstu 3">
                <a:extLst>
                  <a:ext uri="{FF2B5EF4-FFF2-40B4-BE49-F238E27FC236}">
                    <a16:creationId xmlns:a16="http://schemas.microsoft.com/office/drawing/2014/main" id="{455EAEB5-7DBF-F4AD-BFE8-4033A679C1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6759" y="973123"/>
                <a:ext cx="10684489" cy="552834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System Font Regular"/>
                  <a:buChar char="–"/>
                  <a:defRPr sz="24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System Font Regular"/>
                  <a:buChar char="–"/>
                  <a:defRPr sz="20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System Font Regular"/>
                  <a:buChar char="–"/>
                  <a:defRPr sz="18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System Font Regular"/>
                  <a:buChar char="–"/>
                  <a:defRPr sz="16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System Font Regular"/>
                  <a:buChar char="–"/>
                  <a:defRPr sz="16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pl-PL" dirty="0"/>
                  <a:t>By algorytmy lepiej uczyły się na danych, dobrym pomysłem jest ich normalizacja. Są tutaj dwa standardowe wzory: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l-PL" dirty="0"/>
                  <a:t> </a:t>
                </a:r>
                <a:r>
                  <a:rPr lang="pl-PL" dirty="0">
                    <a:solidFill>
                      <a:srgbClr val="00B0F0"/>
                    </a:solidFill>
                  </a:rPr>
                  <a:t>Skalowanie</a:t>
                </a:r>
                <a:r>
                  <a:rPr lang="pl-PL" dirty="0"/>
                  <a:t>,</a:t>
                </a:r>
                <a:r>
                  <a:rPr lang="pl-PL" dirty="0">
                    <a:solidFill>
                      <a:srgbClr val="00B0F0"/>
                    </a:solidFill>
                  </a:rPr>
                  <a:t> normalizacja min-max</a:t>
                </a:r>
                <a:r>
                  <a:rPr lang="pl-PL" dirty="0"/>
                  <a:t> (ang. </a:t>
                </a:r>
                <a:r>
                  <a:rPr lang="pl-PL" dirty="0" err="1"/>
                  <a:t>scale</a:t>
                </a:r>
                <a:r>
                  <a:rPr lang="pl-PL" dirty="0"/>
                  <a:t>, min-max </a:t>
                </a:r>
                <a:r>
                  <a:rPr lang="pl-PL" dirty="0" err="1"/>
                  <a:t>scaling</a:t>
                </a:r>
                <a:r>
                  <a:rPr lang="pl-PL" dirty="0"/>
                  <a:t>) ściska dane z kolumny do przedziału [0, 1]. Dla kolumny obliczamy max i min, następnie każdą wartość kolumny x, zamieniamy na y wg wzoru: </a:t>
                </a:r>
              </a:p>
              <a:p>
                <a:pPr marL="0" indent="0">
                  <a:buNone/>
                </a:pPr>
                <a:endParaRPr lang="pl-P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num>
                        <m:den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den>
                      </m:f>
                    </m:oMath>
                  </m:oMathPara>
                </a14:m>
                <a:endParaRPr lang="pl-PL" dirty="0"/>
              </a:p>
              <a:p>
                <a:pPr marL="0" indent="0">
                  <a:buNone/>
                </a:pPr>
                <a:endParaRPr lang="pl-PL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l-PL" dirty="0"/>
                  <a:t>Skalowanie jest bardzo ważne i z reguły poprawia stabilność uczenia i skuteczność algorytmów. Kolumny/zmienne o różnych zakresach dostają ten sam zakres i tę samą „ważność”.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l-PL" dirty="0"/>
                  <a:t>Uwaga: dane mogą być zgniecione przez za duże wartości!</a:t>
                </a:r>
              </a:p>
              <a:p>
                <a:pPr marL="0" indent="0">
                  <a:buNone/>
                </a:pPr>
                <a:endParaRPr lang="pl-PL" dirty="0"/>
              </a:p>
            </p:txBody>
          </p:sp>
        </mc:Choice>
        <mc:Fallback xmlns="">
          <p:sp>
            <p:nvSpPr>
              <p:cNvPr id="3" name="Symbol zastępczy tekstu 3">
                <a:extLst>
                  <a:ext uri="{FF2B5EF4-FFF2-40B4-BE49-F238E27FC236}">
                    <a16:creationId xmlns:a16="http://schemas.microsoft.com/office/drawing/2014/main" id="{455EAEB5-7DBF-F4AD-BFE8-4033A679C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759" y="973123"/>
                <a:ext cx="10684489" cy="5528345"/>
              </a:xfrm>
              <a:prstGeom prst="rect">
                <a:avLst/>
              </a:prstGeom>
              <a:blipFill>
                <a:blip r:embed="rId2"/>
                <a:stretch>
                  <a:fillRect l="-856" t="-992" b="-7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14466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A020F9-3200-0A4F-67DF-F7FBFD46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45" y="182167"/>
            <a:ext cx="11110793" cy="790956"/>
          </a:xfrm>
        </p:spPr>
        <p:txBody>
          <a:bodyPr/>
          <a:lstStyle/>
          <a:p>
            <a:r>
              <a:rPr lang="pl-PL" sz="4400" dirty="0"/>
              <a:t>Krok IV: Normalizacja danych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tekstu 3">
                <a:extLst>
                  <a:ext uri="{FF2B5EF4-FFF2-40B4-BE49-F238E27FC236}">
                    <a16:creationId xmlns:a16="http://schemas.microsoft.com/office/drawing/2014/main" id="{455EAEB5-7DBF-F4AD-BFE8-4033A679C1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6759" y="973123"/>
                <a:ext cx="10684489" cy="552834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System Font Regular"/>
                  <a:buChar char="–"/>
                  <a:defRPr sz="24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System Font Regular"/>
                  <a:buChar char="–"/>
                  <a:defRPr sz="20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System Font Regular"/>
                  <a:buChar char="–"/>
                  <a:defRPr sz="18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System Font Regular"/>
                  <a:buChar char="–"/>
                  <a:defRPr sz="16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System Font Regular"/>
                  <a:buChar char="–"/>
                  <a:defRPr sz="16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pl-PL" dirty="0"/>
                  <a:t>By algorytmy lepiej uczyły się na danych, dobrym pomysłem jest ich normalizacja. Są tutaj dwa standardowe wzory: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l-PL" dirty="0"/>
                  <a:t> </a:t>
                </a:r>
                <a:r>
                  <a:rPr lang="pl-PL" dirty="0">
                    <a:solidFill>
                      <a:srgbClr val="00B0F0"/>
                    </a:solidFill>
                  </a:rPr>
                  <a:t>Standaryzacja, normalizacja z-</a:t>
                </a:r>
                <a:r>
                  <a:rPr lang="pl-PL" dirty="0" err="1">
                    <a:solidFill>
                      <a:srgbClr val="00B0F0"/>
                    </a:solidFill>
                  </a:rPr>
                  <a:t>score</a:t>
                </a:r>
                <a:r>
                  <a:rPr lang="pl-PL" dirty="0">
                    <a:solidFill>
                      <a:srgbClr val="00B0F0"/>
                    </a:solidFill>
                  </a:rPr>
                  <a:t> </a:t>
                </a:r>
                <a:r>
                  <a:rPr lang="pl-PL" dirty="0"/>
                  <a:t>(ang. z-</a:t>
                </a:r>
                <a:r>
                  <a:rPr lang="pl-PL" dirty="0" err="1"/>
                  <a:t>score</a:t>
                </a:r>
                <a:r>
                  <a:rPr lang="pl-PL" dirty="0"/>
                  <a:t> </a:t>
                </a:r>
                <a:r>
                  <a:rPr lang="pl-PL" dirty="0" err="1"/>
                  <a:t>normalization</a:t>
                </a:r>
                <a:r>
                  <a:rPr lang="pl-PL" dirty="0"/>
                  <a:t>, </a:t>
                </a:r>
                <a:r>
                  <a:rPr lang="pl-PL" dirty="0" err="1"/>
                  <a:t>standarization</a:t>
                </a:r>
                <a:r>
                  <a:rPr lang="pl-PL" dirty="0"/>
                  <a:t>) ściska dane z kolumny do tak, aby przeciętnie były oddalone od 0 o 1. Innymi słowy dane przyjmują rozkład normalny. Dla kolumny obliczamy średnią </a:t>
                </a:r>
                <a:r>
                  <a:rPr lang="pl-PL" dirty="0" err="1"/>
                  <a:t>mean</a:t>
                </a:r>
                <a:r>
                  <a:rPr lang="pl-PL" dirty="0"/>
                  <a:t> i odchylenie standardowe </a:t>
                </a:r>
                <a:r>
                  <a:rPr lang="pl-PL" dirty="0" err="1"/>
                  <a:t>sd</a:t>
                </a:r>
                <a:r>
                  <a:rPr lang="pl-PL" dirty="0"/>
                  <a:t>, a następnie każdą wartość kolumny x, zamieniamy na y wg wzoru: </a:t>
                </a:r>
              </a:p>
              <a:p>
                <a:pPr marL="0" indent="0">
                  <a:buNone/>
                </a:pPr>
                <a:endParaRPr lang="pl-P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𝑚𝑒𝑎𝑛</m:t>
                          </m:r>
                        </m:num>
                        <m:den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𝑠𝑑</m:t>
                          </m:r>
                        </m:den>
                      </m:f>
                    </m:oMath>
                  </m:oMathPara>
                </a14:m>
                <a:endParaRPr lang="pl-PL" dirty="0"/>
              </a:p>
              <a:p>
                <a:pPr marL="0" indent="0">
                  <a:buNone/>
                </a:pPr>
                <a:endParaRPr lang="pl-PL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l-PL" dirty="0"/>
                  <a:t>Standaryzacja jest bardziej radykalna niż skalowanie, bo zmienia rozkład danych (kształt dystrybucji). Jest ważna dla niektórych algorytmów np. LDA.</a:t>
                </a:r>
              </a:p>
              <a:p>
                <a:pPr marL="0" indent="0">
                  <a:buNone/>
                </a:pPr>
                <a:endParaRPr lang="pl-PL" dirty="0"/>
              </a:p>
            </p:txBody>
          </p:sp>
        </mc:Choice>
        <mc:Fallback xmlns="">
          <p:sp>
            <p:nvSpPr>
              <p:cNvPr id="3" name="Symbol zastępczy tekstu 3">
                <a:extLst>
                  <a:ext uri="{FF2B5EF4-FFF2-40B4-BE49-F238E27FC236}">
                    <a16:creationId xmlns:a16="http://schemas.microsoft.com/office/drawing/2014/main" id="{455EAEB5-7DBF-F4AD-BFE8-4033A679C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759" y="973123"/>
                <a:ext cx="10684489" cy="5528345"/>
              </a:xfrm>
              <a:prstGeom prst="rect">
                <a:avLst/>
              </a:prstGeom>
              <a:blipFill>
                <a:blip r:embed="rId2"/>
                <a:stretch>
                  <a:fillRect l="-856" t="-99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09688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A020F9-3200-0A4F-67DF-F7FBFD46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7396" y="2976465"/>
            <a:ext cx="6481179" cy="1780092"/>
          </a:xfrm>
        </p:spPr>
        <p:txBody>
          <a:bodyPr>
            <a:normAutofit/>
          </a:bodyPr>
          <a:lstStyle/>
          <a:p>
            <a:r>
              <a:rPr lang="pl-PL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 co ze zdjęciami?</a:t>
            </a:r>
          </a:p>
        </p:txBody>
      </p:sp>
    </p:spTree>
    <p:extLst>
      <p:ext uri="{BB962C8B-B14F-4D97-AF65-F5344CB8AC3E}">
        <p14:creationId xmlns:p14="http://schemas.microsoft.com/office/powerpoint/2010/main" val="2897682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A020F9-3200-0A4F-67DF-F7FBFD46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45" y="182167"/>
            <a:ext cx="11110793" cy="790956"/>
          </a:xfrm>
        </p:spPr>
        <p:txBody>
          <a:bodyPr/>
          <a:lstStyle/>
          <a:p>
            <a:r>
              <a:rPr lang="pl-PL" sz="4400" dirty="0"/>
              <a:t>A co ze zdjęciami? </a:t>
            </a:r>
            <a:endParaRPr lang="pl-PL" dirty="0"/>
          </a:p>
        </p:txBody>
      </p:sp>
      <p:sp>
        <p:nvSpPr>
          <p:cNvPr id="3" name="Symbol zastępczy tekstu 3">
            <a:extLst>
              <a:ext uri="{FF2B5EF4-FFF2-40B4-BE49-F238E27FC236}">
                <a16:creationId xmlns:a16="http://schemas.microsoft.com/office/drawing/2014/main" id="{455EAEB5-7DBF-F4AD-BFE8-4033A679C1F1}"/>
              </a:ext>
            </a:extLst>
          </p:cNvPr>
          <p:cNvSpPr txBox="1">
            <a:spLocks/>
          </p:cNvSpPr>
          <p:nvPr/>
        </p:nvSpPr>
        <p:spPr>
          <a:xfrm>
            <a:off x="556759" y="973123"/>
            <a:ext cx="10684489" cy="55283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Char char="–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dirty="0"/>
              <a:t>Bazy danych ze zdjęciami traktowane są trochę inaczej niż te numeryczno-tekstowe. Tylko niektóre techniki wymienione wyżej mają tu zastosowanie: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 </a:t>
            </a:r>
            <a:r>
              <a:rPr lang="pl-PL" dirty="0">
                <a:solidFill>
                  <a:srgbClr val="0070C0"/>
                </a:solidFill>
              </a:rPr>
              <a:t>Poprawianie niezrównoważonych danych </a:t>
            </a:r>
            <a:r>
              <a:rPr lang="pl-PL" dirty="0"/>
              <a:t>(</a:t>
            </a:r>
            <a:r>
              <a:rPr lang="pl-PL" dirty="0" err="1"/>
              <a:t>imbalanced</a:t>
            </a:r>
            <a:r>
              <a:rPr lang="pl-PL" dirty="0"/>
              <a:t> data). Jeśli obrazków </a:t>
            </a:r>
            <a:r>
              <a:rPr lang="pl-PL" dirty="0" err="1"/>
              <a:t>otagowanych</a:t>
            </a:r>
            <a:r>
              <a:rPr lang="pl-PL" dirty="0"/>
              <a:t> różnymi klasami nie jest mniej więcej tyle samo.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 </a:t>
            </a:r>
            <a:r>
              <a:rPr lang="pl-PL" dirty="0">
                <a:solidFill>
                  <a:srgbClr val="0070C0"/>
                </a:solidFill>
              </a:rPr>
              <a:t>Normalizacja: skalowanie</a:t>
            </a:r>
            <a:r>
              <a:rPr lang="pl-PL" dirty="0"/>
              <a:t>. Częstą taktyką jest skalowanie zakresu barwnego pikseli z [0, 255] do [0, 1]. Pomaga to w nauce </a:t>
            </a:r>
            <a:r>
              <a:rPr lang="pl-PL" dirty="0" err="1"/>
              <a:t>konwolucyjnych</a:t>
            </a:r>
            <a:r>
              <a:rPr lang="pl-PL" dirty="0"/>
              <a:t> sieci neuronowych.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Bazy numeryczne były kompresowane za pomocą PCA. Bazy obrazkowe </a:t>
            </a:r>
            <a:r>
              <a:rPr lang="pl-PL" dirty="0">
                <a:solidFill>
                  <a:srgbClr val="0070C0"/>
                </a:solidFill>
              </a:rPr>
              <a:t>kompresuje się </a:t>
            </a:r>
            <a:r>
              <a:rPr lang="pl-PL" dirty="0"/>
              <a:t>poprzez zmniejszenie wymiarowości obrazków.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Jeśli wyuczanie trzykanałowych (RGB) kolorowych obrazków jest za trudne lub baza jest za duża, można też rozważyć </a:t>
            </a:r>
            <a:r>
              <a:rPr lang="pl-PL" dirty="0">
                <a:solidFill>
                  <a:srgbClr val="0070C0"/>
                </a:solidFill>
              </a:rPr>
              <a:t>konwersje obrazków do skali szarości </a:t>
            </a:r>
            <a:r>
              <a:rPr lang="pl-PL" dirty="0"/>
              <a:t>(jeden kanał).</a:t>
            </a:r>
          </a:p>
        </p:txBody>
      </p:sp>
    </p:spTree>
    <p:extLst>
      <p:ext uri="{BB962C8B-B14F-4D97-AF65-F5344CB8AC3E}">
        <p14:creationId xmlns:p14="http://schemas.microsoft.com/office/powerpoint/2010/main" val="37267692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A020F9-3200-0A4F-67DF-F7FBFD46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45" y="182167"/>
            <a:ext cx="11110793" cy="790956"/>
          </a:xfrm>
        </p:spPr>
        <p:txBody>
          <a:bodyPr/>
          <a:lstStyle/>
          <a:p>
            <a:r>
              <a:rPr lang="pl-PL" sz="4400" dirty="0"/>
              <a:t>A co ze zdjęciami? </a:t>
            </a:r>
            <a:endParaRPr lang="pl-PL" dirty="0"/>
          </a:p>
        </p:txBody>
      </p:sp>
      <p:sp>
        <p:nvSpPr>
          <p:cNvPr id="3" name="Symbol zastępczy tekstu 3">
            <a:extLst>
              <a:ext uri="{FF2B5EF4-FFF2-40B4-BE49-F238E27FC236}">
                <a16:creationId xmlns:a16="http://schemas.microsoft.com/office/drawing/2014/main" id="{455EAEB5-7DBF-F4AD-BFE8-4033A679C1F1}"/>
              </a:ext>
            </a:extLst>
          </p:cNvPr>
          <p:cNvSpPr txBox="1">
            <a:spLocks/>
          </p:cNvSpPr>
          <p:nvPr/>
        </p:nvSpPr>
        <p:spPr>
          <a:xfrm>
            <a:off x="556759" y="973123"/>
            <a:ext cx="11535714" cy="57027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Char char="–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dirty="0"/>
              <a:t>Dodatkowymi technikami stosowanymi na bazach danych ze zdjęciami jest </a:t>
            </a:r>
            <a:r>
              <a:rPr lang="pl-PL" dirty="0">
                <a:solidFill>
                  <a:srgbClr val="00B0F0"/>
                </a:solidFill>
              </a:rPr>
              <a:t>augmentacja obrazów </a:t>
            </a:r>
            <a:r>
              <a:rPr lang="pl-PL" dirty="0"/>
              <a:t>(image </a:t>
            </a:r>
            <a:r>
              <a:rPr lang="pl-PL" dirty="0" err="1"/>
              <a:t>augmentation</a:t>
            </a:r>
            <a:r>
              <a:rPr lang="pl-PL" dirty="0"/>
              <a:t>). Transformujemy zdjęcie za pomocą różnych operacji, by uzyskać więcej zdjęć z tym samym obiektem, ale nieco zmienionym. Dzięki temu algorytmy uczące staną się bardziej wszechstronne w wykrywaniu obiektu na zdjęciu. Technikami stosowanymi do augmentacji są: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200" kern="600" dirty="0"/>
              <a:t>Rotacja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200" kern="600" dirty="0"/>
              <a:t>Skalowanie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200" kern="600" dirty="0"/>
              <a:t>Przesunięcie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200" kern="600" dirty="0"/>
              <a:t>Przechylenie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200" kern="600" dirty="0"/>
              <a:t>Zaszumienie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200" kern="600" dirty="0"/>
              <a:t>Odbicie pionowe i poziome.</a:t>
            </a:r>
          </a:p>
          <a:p>
            <a:pPr marL="0" indent="0">
              <a:buNone/>
            </a:pPr>
            <a:r>
              <a:rPr lang="pl-PL" sz="2000" dirty="0"/>
              <a:t>Linki: </a:t>
            </a:r>
            <a:r>
              <a:rPr lang="pl-PL" sz="2000" dirty="0">
                <a:hlinkClick r:id="rId2"/>
              </a:rPr>
              <a:t>https://machinelearningmastery.com/how-to-configure-image-data-augmentation-when-training-deep-learning-neural-networks/</a:t>
            </a:r>
            <a:r>
              <a:rPr lang="pl-PL" sz="2000" dirty="0"/>
              <a:t>  </a:t>
            </a:r>
            <a:r>
              <a:rPr lang="pl-PL" sz="2000" dirty="0">
                <a:hlinkClick r:id="rId3"/>
              </a:rPr>
              <a:t>https://www.analyticsvidhya.com/blog/2022/09/training-a-cnn-from-scratch-using-data-augmentation/</a:t>
            </a:r>
            <a:r>
              <a:rPr lang="pl-PL" sz="2000" dirty="0"/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0AA30C4-D84E-4701-6845-F16B1478D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420" y="3049201"/>
            <a:ext cx="2771159" cy="263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2260634"/>
      </p:ext>
    </p:extLst>
  </p:cSld>
  <p:clrMapOvr>
    <a:masterClrMapping/>
  </p:clrMapOvr>
</p:sld>
</file>

<file path=ppt/theme/theme1.xml><?xml version="1.0" encoding="utf-8"?>
<a:theme xmlns:a="http://schemas.openxmlformats.org/drawingml/2006/main" name="MadridVTI">
  <a:themeElements>
    <a:clrScheme name="AnalogousFromLightSeedRightStep">
      <a:dk1>
        <a:srgbClr val="000000"/>
      </a:dk1>
      <a:lt1>
        <a:srgbClr val="FFFFFF"/>
      </a:lt1>
      <a:dk2>
        <a:srgbClr val="413424"/>
      </a:dk2>
      <a:lt2>
        <a:srgbClr val="E2E5E8"/>
      </a:lt2>
      <a:accent1>
        <a:srgbClr val="D19651"/>
      </a:accent1>
      <a:accent2>
        <a:srgbClr val="A9A64F"/>
      </a:accent2>
      <a:accent3>
        <a:srgbClr val="90AB63"/>
      </a:accent3>
      <a:accent4>
        <a:srgbClr val="66B253"/>
      </a:accent4>
      <a:accent5>
        <a:srgbClr val="58B46B"/>
      </a:accent5>
      <a:accent6>
        <a:srgbClr val="53B28E"/>
      </a:accent6>
      <a:hlink>
        <a:srgbClr val="6283AA"/>
      </a:hlink>
      <a:folHlink>
        <a:srgbClr val="7F7F7F"/>
      </a:folHlink>
    </a:clrScheme>
    <a:fontScheme name="Madrid">
      <a:majorFont>
        <a:latin typeface="Seaford Display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ridVTI" id="{5F675924-ADDD-6B4C-A2D4-69150D1F0C16}" vid="{BEA84270-19BD-7342-8ABF-EFF1668AF11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A29731B260BD341AF0543BE580CF094" ma:contentTypeVersion="3" ma:contentTypeDescription="Utwórz nowy dokument." ma:contentTypeScope="" ma:versionID="9353f831aa300c78400e68bb3b255c7c">
  <xsd:schema xmlns:xsd="http://www.w3.org/2001/XMLSchema" xmlns:xs="http://www.w3.org/2001/XMLSchema" xmlns:p="http://schemas.microsoft.com/office/2006/metadata/properties" xmlns:ns2="8f8233eb-f42a-41bd-8e9c-ff4a2a02563a" targetNamespace="http://schemas.microsoft.com/office/2006/metadata/properties" ma:root="true" ma:fieldsID="0efd4344b27ee257b11ef59fab06904b" ns2:_="">
    <xsd:import namespace="8f8233eb-f42a-41bd-8e9c-ff4a2a02563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8233eb-f42a-41bd-8e9c-ff4a2a0256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DC2A2E-8188-47B9-8945-44075D5BD1B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7D801A4-C81C-4C92-973D-30A7132E5F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3632D56-3DEF-4DE9-A2AB-937D36504B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8233eb-f42a-41bd-8e9c-ff4a2a0256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11601</TotalTime>
  <Words>2401</Words>
  <Application>Microsoft Office PowerPoint</Application>
  <PresentationFormat>Widescreen</PresentationFormat>
  <Paragraphs>144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MadridVTI</vt:lpstr>
      <vt:lpstr>Inteligencja obliczeniowa, przetwarzanie danych</vt:lpstr>
      <vt:lpstr>PowerPoint Presentation</vt:lpstr>
      <vt:lpstr>Sztuczna inteligencja: zdolność maszyny do poprawnego interpretowania danych zewnętrznych, uczenia się z nich, i używania ich do osiągnięcia określonych celów dzięki adaptacji (Kaplan, Haenlein); ogólniej: dziedzina informatyki zajmująca się technikami wykorzystującymi powyższą zdolność  Inteligencja obliczeniowa: poddziedzina sztucznej inteligencji skupiająca się na adapcyjnych algorytmach, które umożliwiają lub usprawniają inteligentne zachowanie w złożonym lub zmieniającym się środowisku (Engelbrecht)</vt:lpstr>
      <vt:lpstr>Zakres inteligencji obliczeniowej</vt:lpstr>
      <vt:lpstr>Celem dzisiejszego wykładu jest przegląd technik stosowanych do przygotowania zbioru danych do treningu modelu (do  klasyfikacji lub regresji).  Taki preprocessing danych może się składać z kilku kroków, które po kolei omówimy.  Techniki omówione na tym wykładzie to zaledwie ułamek wszystkich stosowanych technik przetwarzania danych. Zachęcam wszystkich do rozeznania się,  czy istnieją inne ciekawe algorytmy.</vt:lpstr>
      <vt:lpstr>Praca w zakresie sztucznej inteligencji to w 80% przygotowywanie danych, and 19% narzekanie na przygotowywanie danych i 1% optymalizacja algorytmów uczących.  </vt:lpstr>
      <vt:lpstr>Krok I: Usuwanie błędnych danych   Krok II: Usuwanie brakujących danych   Krok III:  Optymalizowanie struktury zbioru danych   Krok IV:  Normalizacja danych</vt:lpstr>
      <vt:lpstr>Krok I: Usuwanie błędnych danych</vt:lpstr>
      <vt:lpstr>Krok I: Usuwanie błędnych danych</vt:lpstr>
      <vt:lpstr>Krok I: Usuwanie błędnych danych</vt:lpstr>
      <vt:lpstr>Krok I: Usuwanie błędnych danych</vt:lpstr>
      <vt:lpstr>Krok I: Usuwanie błędnych danych</vt:lpstr>
      <vt:lpstr>Krok I: Usuwanie błędnych danych</vt:lpstr>
      <vt:lpstr>Krok I: Usuwanie błędnych danych</vt:lpstr>
      <vt:lpstr>Krok I: Usuwanie błędnych danych</vt:lpstr>
      <vt:lpstr>Krok I: Usuwanie błędnych danych   Krok II: Usuwanie brakujących danych   Krok III:  Optymalizowanie struktury zbioru danych   Krok IV:  Normalizacja danych</vt:lpstr>
      <vt:lpstr>Krok II: Usuwanie brakujących danych</vt:lpstr>
      <vt:lpstr>Krok II: Usuwanie brakujących danych</vt:lpstr>
      <vt:lpstr>Krok II: Usuwanie brakujących danych</vt:lpstr>
      <vt:lpstr>Krok II: Usuwanie brakujących danych</vt:lpstr>
      <vt:lpstr>Krok I: Usuwanie błędnych danych   Krok II: Usuwanie brakujących danych   Krok III:  Optymalizowanie struktury zbioru danych   Krok IV:  Normalizacja danych</vt:lpstr>
      <vt:lpstr>Krok III: Optymalizowanie struktury datasetu</vt:lpstr>
      <vt:lpstr>Krok III: Optymalizowanie struktury datasetu</vt:lpstr>
      <vt:lpstr>Krok III: Optymalizowanie struktury datasetu</vt:lpstr>
      <vt:lpstr>Krok III: Optymalizowanie struktury datasetu</vt:lpstr>
      <vt:lpstr>Krok III: Optymalizowanie struktury datasetu</vt:lpstr>
      <vt:lpstr>Krok III: Optymalizowanie struktury datasetu</vt:lpstr>
      <vt:lpstr>Krok I: Usuwanie błędnych danych   Krok II: Usuwanie brakujących danych   Krok III:  Optymalizowanie struktury zbioru danych   Krok IV:  Normalizacja danych</vt:lpstr>
      <vt:lpstr>Krok IV: Normalizacja danych</vt:lpstr>
      <vt:lpstr>Krok IV: Normalizacja danych</vt:lpstr>
      <vt:lpstr> A co ze zdjęciami?</vt:lpstr>
      <vt:lpstr>A co ze zdjęciami? </vt:lpstr>
      <vt:lpstr>A co ze zdjęciami?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Rekurencyjne sieci neuronowe</dc:title>
  <dc:creator>Grzegorz Madejski</dc:creator>
  <cp:lastModifiedBy>Grzegorz Madejski</cp:lastModifiedBy>
  <cp:revision>45</cp:revision>
  <dcterms:created xsi:type="dcterms:W3CDTF">2023-01-17T10:54:17Z</dcterms:created>
  <dcterms:modified xsi:type="dcterms:W3CDTF">2026-03-18T20:19:50Z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0x010100DA29731B260BD341AF0543BE580CF094</vt:lpwstr>
  </property>
</Properties>
</file>